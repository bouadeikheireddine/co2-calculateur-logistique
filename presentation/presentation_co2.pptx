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3818fb-4114-1ebf-2d26-782503e2ec64}">
          <p14:sldIdLst>
            <p14:sldId id="256"/>
            <p14:sldId id="257"/>
          </p14:sldIdLst>
        </p14:section>
        <p14:section name="Besoin et données" id="{4aab80b3-3b53-0609-8a50-137207e0218d}">
          <p14:sldIdLst>
            <p14:sldId id="258"/>
            <p14:sldId id="259"/>
          </p14:sldIdLst>
        </p14:section>
        <p14:section name="Pipeline" id="{7a69e606-aa4a-d306-4606-607ba2e48c84}">
          <p14:sldIdLst>
            <p14:sldId id="260"/>
            <p14:sldId id="261"/>
            <p14:sldId id="262"/>
            <p14:sldId id="263"/>
            <p14:sldId id="264"/>
          </p14:sldIdLst>
        </p14:section>
        <p14:section name="Résultats" id="{3f54a6aa-6589-da57-f584-33da72df3173}">
          <p14:sldIdLst>
            <p14:sldId id="265"/>
            <p14:sldId id="266"/>
            <p14:sldId id="267"/>
          </p14:sldIdLst>
        </p14:section>
        <p14:section name="Interface et organisation" id="{a5584beb-5763-834d-0da3-27363326fc4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3333"/>
                </a:solidFill>
                <a:latin typeface="+mn-lt"/>
              </a:defRPr>
            </a:pPr>
            <a:r>
              <a:rPr sz="1400" b="0" i="0" u="none" strike="noStrike">
                <a:solidFill>
                  <a:srgbClr val="333333"/>
                </a:solidFill>
                <a:latin typeface="+mn-lt"/>
              </a:rPr>
              <a:t>Facteurs ADEME (g CO₂e par tonne.km, échelle log)</a:t>
            </a:r>
          </a:p>
        </c:rich>
      </c:tx>
      <c:layout/>
      <c:overlay val="0"/>
    </c:title>
    <c:autoTitleDeleted val="0"/>
    <c:plotArea>
      <c:layout/>
      <c:barChart>
        <c:barDir val="bar"/>
        <c:grouping val="clustered"/>
        <c:varyColors val="0"/>
        <c:ser>
          <c:idx val="0"/>
          <c:order val="0"/>
          <c:tx>
            <c:strRef>
              <c:f>Sheet1!$B$1</c:f>
              <c:strCache>
                <c:ptCount val="1"/>
                <c:pt idx="0">
                  <c:v>g CO₂e par tonne.km</c:v>
                </c:pt>
              </c:strCache>
            </c:strRef>
          </c:tx>
          <c:spPr>
            <a:solidFill>
              <a:srgbClr val="EB6834"/>
            </a:solidFill>
            <a:effectLst/>
          </c:spPr>
          <c:invertIfNegative val="0"/>
          <c:dLbls>
            <c:numFmt formatCode="0.0" sourceLinked="0"/>
            <c:txPr>
              <a:bodyPr/>
              <a:lstStyle/>
              <a:p>
                <a:pPr>
                  <a:defRPr b="0" i="0" strike="noStrike" sz="1200" u="none">
                    <a:solidFill>
                      <a:srgbClr val="333333"/>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BAF7A"/>
              </a:solidFill>
              <a:effectLst/>
            </c:spPr>
          </c:dPt>
          <c:dPt>
            <c:idx val="2"/>
            <c:invertIfNegative val="0"/>
            <c:bubble3D val="0"/>
            <c:spPr>
              <a:solidFill>
                <a:srgbClr val="2A78D6"/>
              </a:solidFill>
              <a:effectLst/>
            </c:spPr>
          </c:dPt>
          <c:dPt>
            <c:idx val="3"/>
            <c:invertIfNegative val="0"/>
            <c:bubble3D val="0"/>
            <c:spPr>
              <a:solidFill>
                <a:srgbClr val="1BAF7A"/>
              </a:solidFill>
              <a:effectLst/>
            </c:spPr>
          </c:dPt>
          <c:dPt>
            <c:idx val="4"/>
            <c:invertIfNegative val="0"/>
            <c:bubble3D val="0"/>
            <c:spPr>
              <a:solidFill>
                <a:srgbClr val="2A78D6"/>
              </a:solidFill>
              <a:effectLst/>
            </c:spPr>
          </c:dPt>
          <c:dPt>
            <c:idx val="5"/>
            <c:invertIfNegative val="0"/>
            <c:bubble3D val="0"/>
            <c:spPr>
              <a:solidFill>
                <a:srgbClr val="EDA100"/>
              </a:solidFill>
              <a:effectLst/>
            </c:spPr>
          </c:dPt>
          <c:dPt>
            <c:idx val="6"/>
            <c:invertIfNegative val="0"/>
            <c:bubble3D val="0"/>
            <c:spPr>
              <a:solidFill>
                <a:srgbClr val="E87BA4"/>
              </a:solidFill>
              <a:effectLst/>
            </c:spPr>
          </c:dPt>
          <c:cat>
            <c:multiLvlStrRef>
              <c:f>Sheet1!$A$2:$A$8</c:f>
              <c:multiLvlStrCache>
                <c:ptCount val="7"/>
                <c:lvl>
                  <c:pt idx="0">
                    <c:v>Avion cargo &gt; 5 000 km</c:v>
                  </c:pt>
                  <c:pt idx="1">
                    <c:v>Utilitaire gazole</c:v>
                  </c:pt>
                  <c:pt idx="2">
                    <c:v>Porteur 12 à 20 t</c:v>
                  </c:pt>
                  <c:pt idx="3">
                    <c:v>Utilitaire électrique</c:v>
                  </c:pt>
                  <c:pt idx="4">
                    <c:v>Articulé 40 t gazole</c:v>
                  </c:pt>
                  <c:pt idx="5">
                    <c:v>Porte-conteneur Asie-Europe</c:v>
                  </c:pt>
                  <c:pt idx="6">
                    <c:v>Train électrique</c:v>
                  </c:pt>
                </c:lvl>
              </c:multiLvlStrCache>
            </c:multiLvlStrRef>
          </c:cat>
          <c:val>
            <c:numRef>
              <c:f>Sheet1!$B$2:$B$8</c:f>
              <c:numCache>
                <c:formatCode>General</c:formatCode>
                <c:ptCount val="7"/>
                <c:pt idx="0">
                  <c:v>1010</c:v>
                </c:pt>
                <c:pt idx="1">
                  <c:v>842</c:v>
                </c:pt>
                <c:pt idx="2">
                  <c:v>169</c:v>
                </c:pt>
                <c:pt idx="3">
                  <c:v>121.8</c:v>
                </c:pt>
                <c:pt idx="4">
                  <c:v>87.5</c:v>
                </c:pt>
                <c:pt idx="5">
                  <c:v>5.5</c:v>
                </c:pt>
                <c:pt idx="6">
                  <c:v>4.6</c:v>
                </c:pt>
              </c:numCache>
            </c:numRef>
          </c:val>
        </c:ser>
        <c:dLbls>
          <c:numFmt formatCode="0.0" sourceLinked="0"/>
          <c:txPr>
            <a:bodyPr/>
            <a:lstStyle/>
            <a:p>
              <a:pPr>
                <a:defRPr b="0" i="0" strike="noStrike" sz="1200" u="none">
                  <a:solidFill>
                    <a:srgbClr val="3333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logBase val="10"/>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3333"/>
                </a:solidFill>
                <a:latin typeface="+mn-lt"/>
              </a:defRPr>
            </a:pPr>
            <a:r>
              <a:rPr sz="1400" b="0" i="0" u="none" strike="noStrike">
                <a:solidFill>
                  <a:srgbClr val="333333"/>
                </a:solidFill>
                <a:latin typeface="+mn-lt"/>
              </a:rPr>
              <a:t>Émissions sur 12 mois (t CO₂e)</a:t>
            </a:r>
          </a:p>
        </c:rich>
      </c:tx>
      <c:layout/>
      <c:overlay val="0"/>
    </c:title>
    <c:autoTitleDeleted val="0"/>
    <c:plotArea>
      <c:layout/>
      <c:barChart>
        <c:barDir val="bar"/>
        <c:grouping val="clustered"/>
        <c:varyColors val="0"/>
        <c:ser>
          <c:idx val="0"/>
          <c:order val="0"/>
          <c:tx>
            <c:strRef>
              <c:f>Sheet1!$B$1</c:f>
              <c:strCache>
                <c:ptCount val="1"/>
                <c:pt idx="0">
                  <c:v>t CO₂e</c:v>
                </c:pt>
              </c:strCache>
            </c:strRef>
          </c:tx>
          <c:spPr>
            <a:solidFill>
              <a:srgbClr val="0F6B4F"/>
            </a:solidFill>
            <a:effectLst/>
          </c:spPr>
          <c:invertIfNegative val="0"/>
          <c:dLbls>
            <c:numFmt formatCode="0.0" sourceLinked="0"/>
            <c:txPr>
              <a:bodyPr/>
              <a:lstStyle/>
              <a:p>
                <a:pPr>
                  <a:defRPr b="0" i="0" strike="noStrike" sz="1200" u="none">
                    <a:solidFill>
                      <a:srgbClr val="333333"/>
                    </a:solidFill>
                    <a:latin typeface="+mn-lt"/>
                  </a:defRPr>
                </a:pPr>
              </a:p>
            </c:txPr>
            <c:showLegendKey val="0"/>
            <c:showVal val="1"/>
            <c:showCatName val="0"/>
            <c:showSerName val="0"/>
            <c:showPercent val="0"/>
            <c:showBubbleSize val="0"/>
            <c:showLeaderLines val="0"/>
          </c:dLbls>
          <c:cat>
            <c:multiLvlStrRef>
              <c:f>Sheet1!$A$2:$A$9</c:f>
              <c:multiLvlStrCache>
                <c:ptCount val="8"/>
                <c:lvl>
                  <c:pt idx="0">
                    <c:v>Shein</c:v>
                  </c:pt>
                  <c:pt idx="1">
                    <c:v>Amazon</c:v>
                  </c:pt>
                  <c:pt idx="2">
                    <c:v>Cdiscount</c:v>
                  </c:pt>
                  <c:pt idx="3">
                    <c:v>Vinted</c:v>
                  </c:pt>
                  <c:pt idx="4">
                    <c:v>Leroy Merlin</c:v>
                  </c:pt>
                  <c:pt idx="5">
                    <c:v>Decathlon</c:v>
                  </c:pt>
                  <c:pt idx="6">
                    <c:v>Zalando</c:v>
                  </c:pt>
                  <c:pt idx="7">
                    <c:v>Back Market</c:v>
                  </c:pt>
                </c:lvl>
              </c:multiLvlStrCache>
            </c:multiLvlStrRef>
          </c:cat>
          <c:val>
            <c:numRef>
              <c:f>Sheet1!$B$2:$B$9</c:f>
              <c:numCache>
                <c:formatCode>General</c:formatCode>
                <c:ptCount val="8"/>
                <c:pt idx="0">
                  <c:v>24.55</c:v>
                </c:pt>
                <c:pt idx="1">
                  <c:v>17.52</c:v>
                </c:pt>
                <c:pt idx="2">
                  <c:v>3.66</c:v>
                </c:pt>
                <c:pt idx="3">
                  <c:v>1.27</c:v>
                </c:pt>
                <c:pt idx="4">
                  <c:v>1.19</c:v>
                </c:pt>
                <c:pt idx="5">
                  <c:v>0.92</c:v>
                </c:pt>
                <c:pt idx="6">
                  <c:v>0.42</c:v>
                </c:pt>
                <c:pt idx="7">
                  <c:v>0.17</c:v>
                </c:pt>
              </c:numCache>
            </c:numRef>
          </c:val>
        </c:ser>
        <c:dLbls>
          <c:numFmt formatCode="0.0" sourceLinked="0"/>
          <c:txPr>
            <a:bodyPr/>
            <a:lstStyle/>
            <a:p>
              <a:pPr>
                <a:defRPr b="0" i="0" strike="noStrike" sz="1200" u="none">
                  <a:solidFill>
                    <a:srgbClr val="3333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3333"/>
                </a:solidFill>
                <a:latin typeface="+mn-lt"/>
              </a:defRPr>
            </a:pPr>
            <a:r>
              <a:rPr sz="1400" b="0" i="0" u="none" strike="noStrike">
                <a:solidFill>
                  <a:srgbClr val="333333"/>
                </a:solidFill>
                <a:latin typeface="+mn-lt"/>
              </a:rPr>
              <a:t>g CO₂e par kilo expédié (échelle log)</a:t>
            </a:r>
          </a:p>
        </c:rich>
      </c:tx>
      <c:layout/>
      <c:overlay val="0"/>
    </c:title>
    <c:autoTitleDeleted val="0"/>
    <c:plotArea>
      <c:layout/>
      <c:barChart>
        <c:barDir val="bar"/>
        <c:grouping val="clustered"/>
        <c:varyColors val="0"/>
        <c:ser>
          <c:idx val="0"/>
          <c:order val="0"/>
          <c:tx>
            <c:strRef>
              <c:f>Sheet1!$B$1</c:f>
              <c:strCache>
                <c:ptCount val="1"/>
                <c:pt idx="0">
                  <c:v>g CO₂e par kg</c:v>
                </c:pt>
              </c:strCache>
            </c:strRef>
          </c:tx>
          <c:spPr>
            <a:solidFill>
              <a:srgbClr val="EB6834"/>
            </a:solidFill>
            <a:effectLst/>
          </c:spPr>
          <c:invertIfNegative val="0"/>
          <c:dLbls>
            <c:numFmt formatCode="#,##0" sourceLinked="0"/>
            <c:txPr>
              <a:bodyPr/>
              <a:lstStyle/>
              <a:p>
                <a:pPr>
                  <a:defRPr b="0" i="0" strike="noStrike" sz="1200" u="none">
                    <a:solidFill>
                      <a:srgbClr val="333333"/>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DA100"/>
              </a:solidFill>
              <a:effectLst/>
            </c:spPr>
          </c:dPt>
          <c:dPt>
            <c:idx val="2"/>
            <c:invertIfNegative val="0"/>
            <c:bubble3D val="0"/>
            <c:spPr>
              <a:solidFill>
                <a:srgbClr val="2A78D6"/>
              </a:solidFill>
              <a:effectLst/>
            </c:spPr>
          </c:dPt>
          <c:dPt>
            <c:idx val="3"/>
            <c:invertIfNegative val="0"/>
            <c:bubble3D val="0"/>
            <c:spPr>
              <a:solidFill>
                <a:srgbClr val="6250D6"/>
              </a:solidFill>
              <a:effectLst/>
            </c:spPr>
          </c:dPt>
          <c:dPt>
            <c:idx val="4"/>
            <c:invertIfNegative val="0"/>
            <c:bubble3D val="0"/>
            <c:spPr>
              <a:solidFill>
                <a:srgbClr val="1BAF7A"/>
              </a:solidFill>
              <a:effectLst/>
            </c:spPr>
          </c:dPt>
          <c:cat>
            <c:multiLvlStrRef>
              <c:f>Sheet1!$A$2:$A$6</c:f>
              <c:multiLvlStrCache>
                <c:ptCount val="5"/>
                <c:lvl>
                  <c:pt idx="0">
                    <c:v>International par avion</c:v>
                  </c:pt>
                  <c:pt idx="1">
                    <c:v>International par bateau</c:v>
                  </c:pt>
                  <c:pt idx="2">
                    <c:v>Standard</c:v>
                  </c:pt>
                  <c:pt idx="3">
                    <c:v>Express</c:v>
                  </c:pt>
                  <c:pt idx="4">
                    <c:v>Écologique</c:v>
                  </c:pt>
                </c:lvl>
              </c:multiLvlStrCache>
            </c:multiLvlStrRef>
          </c:cat>
          <c:val>
            <c:numRef>
              <c:f>Sheet1!$B$2:$B$6</c:f>
              <c:numCache>
                <c:formatCode>General</c:formatCode>
                <c:ptCount val="5"/>
                <c:pt idx="0">
                  <c:v>8641</c:v>
                </c:pt>
                <c:pt idx="1">
                  <c:v>182</c:v>
                </c:pt>
                <c:pt idx="2">
                  <c:v>92</c:v>
                </c:pt>
                <c:pt idx="3">
                  <c:v>85</c:v>
                </c:pt>
                <c:pt idx="4">
                  <c:v>54</c:v>
                </c:pt>
              </c:numCache>
            </c:numRef>
          </c:val>
        </c:ser>
        <c:dLbls>
          <c:numFmt formatCode="#,##0" sourceLinked="0"/>
          <c:txPr>
            <a:bodyPr/>
            <a:lstStyle/>
            <a:p>
              <a:pPr>
                <a:defRPr b="0" i="0" strike="noStrike" sz="1200" u="none">
                  <a:solidFill>
                    <a:srgbClr val="3333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logBase val="10"/>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CO2 : un pipeline de data wrangling qui calcule l'empreinte carbone de chaque colis, et l'interface qui la met entre les mains des clients grands comptes.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principal : pour réduire le CO2 des colis, le sujet numéro un est le transport aérien des colis importés. Tout le reste du réseau, camions et dernier kilomètre, pèse 16 %.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cours fixe l'objectif : un dataset unifié et propre pour entraîner un modèle de CO2 à partir de données hétérogènes et incomplètes. Nous y avons ajouté la restitution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cours autorise des fichiers fictifs pour les données internes. Nous en avons profité pour garder la vérité terrain de côté et évaluer le pipeline. Tous les référentiels, eux, sont réels et téléchargés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étapes reprennent exactement celles du cours. Chaque étape écrit sa couche de données : raw, raw_clean, enriched, curated. Le notebook ne contient pas de logique, il appelle les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découverte réduit chaque valeur à sa forme : chiffres en 9, lettres en A. Plusieurs formes dans une colonne révèlent des formats concurrents. Le graphique compare les défauts injectés et ceux traités : on retrouve presque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n'a pas de carte du réseau : il l'apprend. Pour chaque agence, la plateforme scannée juste avant son arrivée la plus souvent. Quand un scan manque, on réinsère la plateforme attendue. Pour un colis d'Asie sans scan d'entrée, le délai entre commande et premier scan trahit l'avion ou le bateau.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22 facteurs sont extraits de la Base Carbone par leur identifiant, jamais recopiés à la main. Deux sont dérivés : l'utilitaire électrique et le vélo cargo. Entre le train et l'avion, il y a un facteur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boosting (HistGradientBoosting de scikit-learn) pour les trois. Nous présentons honnêtement le cas où le modèle apporte peu, et ce que nous avons fait à la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quand moins de la moitié du trajet est observée, la reconstitution reste à 4 % d'erreur médiane. Le modèle sur la commande seule est moins précis, c'est attendu : il ne voit aucun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classement suit l'exposition au transport aérien, pas le volume de colis : Vinted expédie deux fois plus de colis que Shein pour vingt fois moins de CO2.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les leviers que l'interface permet de simuler sur le bilan de chaque client. Le résultat sur l'express est contre-intuitif mais cohérent avec les données : pas de détour par le hub national.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 python run_app.py. Pas de jargon : des grammes, des équivalents en kilomètres de voiture, une phrase qui recommande l'option la plus sobre.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complet, sprint 1 détaillé et tableau Kanban dans docs/gestion_projet.md.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Le code, les données, le notebook et la documentation sont sur le dépôt GitHub indiqué dans le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rgbClr val="0F3D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6868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49040"/>
            <a:ext cx="10058400" cy="2194560"/>
          </a:xfrm>
          <a:prstGeom prst="rect">
            <a:avLst/>
          </a:prstGeom>
          <a:noFill/>
          <a:ln/>
        </p:spPr>
        <p:txBody>
          <a:bodyPr wrap="square" rtlCol="0"/>
          <a:lstStyle>
            <a:lvl1pPr indent="0" marL="0">
              <a:buNone/>
              <a:defRPr lang="en-US" sz="1800" dirty="0">
                <a:solidFill>
                  <a:srgbClr val="C9DCD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rgbClr val="8A8984"/>
                </a:solidFill>
                <a:latin typeface="Calibri" pitchFamily="34" charset="0"/>
                <a:ea typeface="Calibri" pitchFamily="34" charset="-122"/>
                <a:cs typeface="Calibri" pitchFamily="34" charset="-120"/>
              </a:rPr>
              <a:t>FastColis · Calculateur CO₂ · Projet Data Wrangling</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686800" cy="1737360"/>
          </a:xfrm>
          <a:prstGeom prst="rect">
            <a:avLst/>
          </a:prstGeom>
          <a:noFill/>
          <a:ln/>
        </p:spPr>
        <p:txBody>
          <a:bodyPr wrap="square" lIns="0" tIns="0" rIns="0" bIns="0" rtlCol="0" anchor="b"/>
          <a:lstStyle/>
          <a:p>
            <a:pPr algn="l" indent="0" marL="0">
              <a:buNone/>
            </a:pPr>
            <a:r>
              <a:rPr lang="en-US" sz="4400" b="1" dirty="0">
                <a:solidFill>
                  <a:schemeClr val="bg1"/>
                </a:solidFill>
              </a:rPr>
              <a:t>Calculateur CO₂ logistique intelligent</a:t>
            </a:r>
            <a:endParaRPr lang="en-US" sz="4400" dirty="0"/>
          </a:p>
        </p:txBody>
      </p:sp>
      <p:sp>
        <p:nvSpPr>
          <p:cNvPr id="3" name="Text 0"/>
          <p:cNvSpPr/>
          <p:nvPr>
            <p:ph idx="101" type="body" hasCustomPrompt="1"/>
          </p:nvPr>
        </p:nvSpPr>
        <p:spPr>
          <a:xfrm>
            <a:off x="548640" y="3749040"/>
            <a:ext cx="10058400" cy="2194560"/>
          </a:xfrm>
          <a:prstGeom prst="rect">
            <a:avLst/>
          </a:prstGeom>
          <a:noFill/>
          <a:ln/>
        </p:spPr>
        <p:txBody>
          <a:bodyPr wrap="square" lIns="0" tIns="0" rIns="0" bIns="0" rtlCol="0" anchor="t"/>
          <a:lstStyle/>
          <a:p>
            <a:pPr indent="0" marL="0">
              <a:buNone/>
            </a:pPr>
            <a:r>
              <a:rPr lang="en-US" sz="1800" b="1" dirty="0">
                <a:solidFill>
                  <a:srgbClr val="FFFFFF"/>
                </a:solidFill>
              </a:rPr>
              <a:t>Projet Data Wrangling · FastColis</a:t>
            </a:r>
            <a:endParaRPr lang="en-US" sz="1800" dirty="0"/>
          </a:p>
          <a:p>
            <a:pPr indent="0" marL="0">
              <a:buNone/>
            </a:pPr>
            <a:r>
              <a:rPr lang="en-US" sz="1500" dirty="0">
                <a:solidFill>
                  <a:srgbClr val="C9DCD2"/>
                </a:solidFill>
              </a:rPr>
              <a:t>Kheireddine BOUADI, Maël RAZAFIMBELO, Mohamed BEN AMOR, Ael Boece NGODA LONTSI, Abdallah BENSMAIL</a:t>
            </a:r>
            <a:endParaRPr lang="en-US" sz="1800" dirty="0"/>
          </a:p>
          <a:p>
            <a:pPr indent="0" marL="0">
              <a:buNone/>
            </a:pPr>
            <a:r>
              <a:rPr lang="en-US" sz="1500" dirty="0">
                <a:solidFill>
                  <a:srgbClr val="C9DCD2"/>
                </a:solidFill>
              </a:rPr>
              <a:t>PGE3 · aivancity · octobre 2026</a:t>
            </a:r>
            <a:endParaRPr lang="en-US" sz="1800" dirty="0"/>
          </a:p>
        </p:txBody>
      </p:sp>
      <p:pic>
        <p:nvPicPr>
          <p:cNvPr id="4" name="icone avion" descr="preencoded.png">    </p:cNvPr>
          <p:cNvPicPr>
            <a:picLocks noChangeAspect="1"/>
          </p:cNvPicPr>
          <p:nvPr/>
        </p:nvPicPr>
        <p:blipFill>
          <a:blip r:embed="rId1"/>
          <a:stretch>
            <a:fillRect/>
          </a:stretch>
        </p:blipFill>
        <p:spPr>
          <a:xfrm>
            <a:off x="9966960" y="1463040"/>
            <a:ext cx="1005840" cy="1005840"/>
          </a:xfrm>
          <a:prstGeom prst="rect">
            <a:avLst/>
          </a:prstGeom>
        </p:spPr>
      </p:pic>
      <p:pic>
        <p:nvPicPr>
          <p:cNvPr id="5" name="icone camion" descr="preencoded.png">    </p:cNvPr>
          <p:cNvPicPr>
            <a:picLocks noChangeAspect="1"/>
          </p:cNvPicPr>
          <p:nvPr/>
        </p:nvPicPr>
        <p:blipFill>
          <a:blip r:embed="rId2"/>
          <a:stretch>
            <a:fillRect/>
          </a:stretch>
        </p:blipFill>
        <p:spPr>
          <a:xfrm>
            <a:off x="9966960" y="2834640"/>
            <a:ext cx="1005840" cy="1005840"/>
          </a:xfrm>
          <a:prstGeom prst="rect">
            <a:avLst/>
          </a:prstGeom>
        </p:spPr>
      </p:pic>
      <p:pic>
        <p:nvPicPr>
          <p:cNvPr id="6" name="icone bateau" descr="preencoded.png">    </p:cNvPr>
          <p:cNvPicPr>
            <a:picLocks noChangeAspect="1"/>
          </p:cNvPicPr>
          <p:nvPr/>
        </p:nvPicPr>
        <p:blipFill>
          <a:blip r:embed="rId3"/>
          <a:stretch>
            <a:fillRect/>
          </a:stretch>
        </p:blipFill>
        <p:spPr>
          <a:xfrm>
            <a:off x="9966960" y="420624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L'avion pèse 84 % des émissions pour 12 % des colis</a:t>
            </a:r>
            <a:endParaRPr lang="en-US" sz="3000" dirty="0"/>
          </a:p>
        </p:txBody>
      </p:sp>
      <p:sp>
        <p:nvSpPr>
          <p:cNvPr id="3" name="carte avion"/>
          <p:cNvSpPr/>
          <p:nvPr/>
        </p:nvSpPr>
        <p:spPr>
          <a:xfrm>
            <a:off x="548640" y="1463040"/>
            <a:ext cx="5486400" cy="4480560"/>
          </a:xfrm>
          <a:prstGeom prst="roundRect">
            <a:avLst>
              <a:gd name="adj" fmla="val 2449"/>
            </a:avLst>
          </a:prstGeom>
          <a:solidFill>
            <a:srgbClr val="F3F6F3"/>
          </a:solidFill>
          <a:ln w="12700">
            <a:solidFill>
              <a:srgbClr val="F3F6F3"/>
            </a:solidFill>
            <a:prstDash val="solid"/>
          </a:ln>
        </p:spPr>
      </p:sp>
      <p:sp>
        <p:nvSpPr>
          <p:cNvPr id="4" name="Text 2"/>
          <p:cNvSpPr txBox="1"/>
          <p:nvPr/>
        </p:nvSpPr>
        <p:spPr>
          <a:xfrm>
            <a:off x="914400" y="1737360"/>
            <a:ext cx="4754880" cy="1188720"/>
          </a:xfrm>
          <a:prstGeom prst="rect">
            <a:avLst/>
          </a:prstGeom>
          <a:noFill/>
          <a:ln/>
        </p:spPr>
        <p:txBody>
          <a:bodyPr wrap="square" lIns="0" tIns="0" rIns="0" bIns="0" rtlCol="0" anchor="ctr"/>
          <a:lstStyle/>
          <a:p>
            <a:pPr indent="0" marL="0">
              <a:buNone/>
            </a:pPr>
            <a:r>
              <a:rPr lang="en-US" sz="7200" b="1" dirty="0">
                <a:solidFill>
                  <a:srgbClr val="EB6834"/>
                </a:solidFill>
                <a:latin typeface="Cambria" pitchFamily="34" charset="0"/>
                <a:ea typeface="Cambria" pitchFamily="34" charset="-122"/>
                <a:cs typeface="Cambria" pitchFamily="34" charset="-120"/>
              </a:rPr>
              <a:t>84 %</a:t>
            </a:r>
            <a:endParaRPr lang="en-US" sz="7200" dirty="0"/>
          </a:p>
        </p:txBody>
      </p:sp>
      <p:sp>
        <p:nvSpPr>
          <p:cNvPr id="5" name="Text 3"/>
          <p:cNvSpPr txBox="1"/>
          <p:nvPr/>
        </p:nvSpPr>
        <p:spPr>
          <a:xfrm>
            <a:off x="914400" y="2926080"/>
            <a:ext cx="4754880" cy="457200"/>
          </a:xfrm>
          <a:prstGeom prst="rect">
            <a:avLst/>
          </a:prstGeom>
          <a:noFill/>
          <a:ln/>
        </p:spPr>
        <p:txBody>
          <a:bodyPr wrap="square" lIns="0" tIns="0" rIns="0" bIns="0" rtlCol="0" anchor="ctr"/>
          <a:lstStyle/>
          <a:p>
            <a:pPr indent="0" marL="0">
              <a:buNone/>
            </a:pPr>
            <a:r>
              <a:rPr lang="en-US" sz="1600" dirty="0">
                <a:solidFill>
                  <a:srgbClr val="333333"/>
                </a:solidFill>
                <a:latin typeface="Calibri" pitchFamily="34" charset="0"/>
                <a:ea typeface="Calibri" pitchFamily="34" charset="-122"/>
                <a:cs typeface="Calibri" pitchFamily="34" charset="-120"/>
              </a:rPr>
              <a:t>des émissions viennent des colis qui prennent l'avion</a:t>
            </a:r>
            <a:endParaRPr lang="en-US" sz="1600" dirty="0"/>
          </a:p>
        </p:txBody>
      </p:sp>
      <p:sp>
        <p:nvSpPr>
          <p:cNvPr id="6" name="Text 4"/>
          <p:cNvSpPr txBox="1"/>
          <p:nvPr/>
        </p:nvSpPr>
        <p:spPr>
          <a:xfrm>
            <a:off x="914400" y="3657600"/>
            <a:ext cx="4754880" cy="109728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12 %</a:t>
            </a:r>
            <a:endParaRPr lang="en-US" sz="6000" dirty="0"/>
          </a:p>
        </p:txBody>
      </p:sp>
      <p:sp>
        <p:nvSpPr>
          <p:cNvPr id="7" name="Text 5"/>
          <p:cNvSpPr txBox="1"/>
          <p:nvPr/>
        </p:nvSpPr>
        <p:spPr>
          <a:xfrm>
            <a:off x="914400" y="4754880"/>
            <a:ext cx="4754880" cy="457200"/>
          </a:xfrm>
          <a:prstGeom prst="rect">
            <a:avLst/>
          </a:prstGeom>
          <a:noFill/>
          <a:ln/>
        </p:spPr>
        <p:txBody>
          <a:bodyPr wrap="square" lIns="0" tIns="0" rIns="0" bIns="0" rtlCol="0" anchor="ctr"/>
          <a:lstStyle/>
          <a:p>
            <a:pPr indent="0" marL="0">
              <a:buNone/>
            </a:pPr>
            <a:r>
              <a:rPr lang="en-US" sz="1600" dirty="0">
                <a:solidFill>
                  <a:srgbClr val="333333"/>
                </a:solidFill>
                <a:latin typeface="Calibri" pitchFamily="34" charset="0"/>
                <a:ea typeface="Calibri" pitchFamily="34" charset="-122"/>
                <a:cs typeface="Calibri" pitchFamily="34" charset="-120"/>
              </a:rPr>
              <a:t>des colis seulement, presque tous venus d'Asie</a:t>
            </a:r>
            <a:endParaRPr lang="en-US" sz="1600" dirty="0"/>
          </a:p>
        </p:txBody>
      </p:sp>
      <p:sp>
        <p:nvSpPr>
          <p:cNvPr id="8" name="tuile 0"/>
          <p:cNvSpPr/>
          <p:nvPr/>
        </p:nvSpPr>
        <p:spPr>
          <a:xfrm>
            <a:off x="6492240" y="1463040"/>
            <a:ext cx="2423160" cy="2103120"/>
          </a:xfrm>
          <a:prstGeom prst="roundRect">
            <a:avLst>
              <a:gd name="adj" fmla="val 5217"/>
            </a:avLst>
          </a:prstGeom>
          <a:solidFill>
            <a:srgbClr val="EEF3EE"/>
          </a:solidFill>
          <a:ln w="12700">
            <a:solidFill>
              <a:srgbClr val="EEF3EE"/>
            </a:solidFill>
            <a:prstDash val="solid"/>
          </a:ln>
        </p:spPr>
      </p:sp>
      <p:sp>
        <p:nvSpPr>
          <p:cNvPr id="9" name="Text 7"/>
          <p:cNvSpPr txBox="1"/>
          <p:nvPr/>
        </p:nvSpPr>
        <p:spPr>
          <a:xfrm>
            <a:off x="6720840" y="1783080"/>
            <a:ext cx="2011680" cy="8229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60 000</a:t>
            </a:r>
            <a:endParaRPr lang="en-US" sz="3400" dirty="0"/>
          </a:p>
        </p:txBody>
      </p:sp>
      <p:sp>
        <p:nvSpPr>
          <p:cNvPr id="10" name="Text 8"/>
          <p:cNvSpPr txBox="1"/>
          <p:nvPr/>
        </p:nvSpPr>
        <p:spPr>
          <a:xfrm>
            <a:off x="6720840" y="2651760"/>
            <a:ext cx="2011680" cy="73152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colis analysés sur 12 mois</a:t>
            </a:r>
            <a:endParaRPr lang="en-US" sz="1400" dirty="0"/>
          </a:p>
        </p:txBody>
      </p:sp>
      <p:sp>
        <p:nvSpPr>
          <p:cNvPr id="11" name="tuile 1"/>
          <p:cNvSpPr/>
          <p:nvPr/>
        </p:nvSpPr>
        <p:spPr>
          <a:xfrm>
            <a:off x="9144000" y="1463040"/>
            <a:ext cx="2423160" cy="2103120"/>
          </a:xfrm>
          <a:prstGeom prst="roundRect">
            <a:avLst>
              <a:gd name="adj" fmla="val 5217"/>
            </a:avLst>
          </a:prstGeom>
          <a:solidFill>
            <a:srgbClr val="EEF3EE"/>
          </a:solidFill>
          <a:ln w="12700">
            <a:solidFill>
              <a:srgbClr val="EEF3EE"/>
            </a:solidFill>
            <a:prstDash val="solid"/>
          </a:ln>
        </p:spPr>
      </p:sp>
      <p:sp>
        <p:nvSpPr>
          <p:cNvPr id="12" name="Text 10"/>
          <p:cNvSpPr txBox="1"/>
          <p:nvPr/>
        </p:nvSpPr>
        <p:spPr>
          <a:xfrm>
            <a:off x="9372600" y="1783080"/>
            <a:ext cx="2011680" cy="8229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49,7 t</a:t>
            </a:r>
            <a:endParaRPr lang="en-US" sz="3400" dirty="0"/>
          </a:p>
        </p:txBody>
      </p:sp>
      <p:sp>
        <p:nvSpPr>
          <p:cNvPr id="13" name="Text 11"/>
          <p:cNvSpPr txBox="1"/>
          <p:nvPr/>
        </p:nvSpPr>
        <p:spPr>
          <a:xfrm>
            <a:off x="9372600" y="2651760"/>
            <a:ext cx="2011680" cy="73152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de CO₂e au total</a:t>
            </a:r>
            <a:endParaRPr lang="en-US" sz="1400" dirty="0"/>
          </a:p>
        </p:txBody>
      </p:sp>
      <p:sp>
        <p:nvSpPr>
          <p:cNvPr id="14" name="tuile 2"/>
          <p:cNvSpPr/>
          <p:nvPr/>
        </p:nvSpPr>
        <p:spPr>
          <a:xfrm>
            <a:off x="6492240" y="3749040"/>
            <a:ext cx="2423160" cy="2103120"/>
          </a:xfrm>
          <a:prstGeom prst="roundRect">
            <a:avLst>
              <a:gd name="adj" fmla="val 5217"/>
            </a:avLst>
          </a:prstGeom>
          <a:solidFill>
            <a:srgbClr val="EEF3EE"/>
          </a:solidFill>
          <a:ln w="12700">
            <a:solidFill>
              <a:srgbClr val="EEF3EE"/>
            </a:solidFill>
            <a:prstDash val="solid"/>
          </a:ln>
        </p:spPr>
      </p:sp>
      <p:sp>
        <p:nvSpPr>
          <p:cNvPr id="15" name="Text 13"/>
          <p:cNvSpPr txBox="1"/>
          <p:nvPr/>
        </p:nvSpPr>
        <p:spPr>
          <a:xfrm>
            <a:off x="6720840" y="4069080"/>
            <a:ext cx="2011680" cy="8229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89 g</a:t>
            </a:r>
            <a:endParaRPr lang="en-US" sz="3400" dirty="0"/>
          </a:p>
        </p:txBody>
      </p:sp>
      <p:sp>
        <p:nvSpPr>
          <p:cNvPr id="16" name="Text 14"/>
          <p:cNvSpPr txBox="1"/>
          <p:nvPr/>
        </p:nvSpPr>
        <p:spPr>
          <a:xfrm>
            <a:off x="6720840" y="4937760"/>
            <a:ext cx="2011680" cy="73152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pour le colis médian</a:t>
            </a:r>
            <a:endParaRPr lang="en-US" sz="1400" dirty="0"/>
          </a:p>
        </p:txBody>
      </p:sp>
      <p:sp>
        <p:nvSpPr>
          <p:cNvPr id="17" name="tuile 3"/>
          <p:cNvSpPr/>
          <p:nvPr/>
        </p:nvSpPr>
        <p:spPr>
          <a:xfrm>
            <a:off x="9144000" y="3749040"/>
            <a:ext cx="2423160" cy="2103120"/>
          </a:xfrm>
          <a:prstGeom prst="roundRect">
            <a:avLst>
              <a:gd name="adj" fmla="val 5217"/>
            </a:avLst>
          </a:prstGeom>
          <a:solidFill>
            <a:srgbClr val="EEF3EE"/>
          </a:solidFill>
          <a:ln w="12700">
            <a:solidFill>
              <a:srgbClr val="EEF3EE"/>
            </a:solidFill>
            <a:prstDash val="solid"/>
          </a:ln>
        </p:spPr>
      </p:sp>
      <p:sp>
        <p:nvSpPr>
          <p:cNvPr id="18" name="Text 16"/>
          <p:cNvSpPr txBox="1"/>
          <p:nvPr/>
        </p:nvSpPr>
        <p:spPr>
          <a:xfrm>
            <a:off x="9372600" y="4069080"/>
            <a:ext cx="2011680" cy="8229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 2,2 %</a:t>
            </a:r>
            <a:endParaRPr lang="en-US" sz="3400" dirty="0"/>
          </a:p>
        </p:txBody>
      </p:sp>
      <p:sp>
        <p:nvSpPr>
          <p:cNvPr id="19" name="Text 17"/>
          <p:cNvSpPr txBox="1"/>
          <p:nvPr/>
        </p:nvSpPr>
        <p:spPr>
          <a:xfrm>
            <a:off x="9372600" y="4937760"/>
            <a:ext cx="2011680" cy="73152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d'erreur médiane face à la réalité</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Un CO₂ par colis, même sur une chaîne incomplète</a:t>
            </a:r>
            <a:endParaRPr lang="en-US" sz="3000" dirty="0"/>
          </a:p>
        </p:txBody>
      </p:sp>
      <p:sp>
        <p:nvSpPr>
          <p:cNvPr id="3" name="colonne Objectifs métier"/>
          <p:cNvSpPr/>
          <p:nvPr/>
        </p:nvSpPr>
        <p:spPr>
          <a:xfrm>
            <a:off x="548640" y="1463040"/>
            <a:ext cx="5394960" cy="4572000"/>
          </a:xfrm>
          <a:prstGeom prst="roundRect">
            <a:avLst>
              <a:gd name="adj" fmla="val 2400"/>
            </a:avLst>
          </a:prstGeom>
          <a:solidFill>
            <a:srgbClr val="F3F6F3"/>
          </a:solidFill>
          <a:ln w="12700">
            <a:solidFill>
              <a:srgbClr val="F3F6F3"/>
            </a:solidFill>
            <a:prstDash val="solid"/>
          </a:ln>
        </p:spPr>
      </p:sp>
      <p:pic>
        <p:nvPicPr>
          <p:cNvPr id="4" name="icone Objectifs métier" descr="preencoded.png">    </p:cNvPr>
          <p:cNvPicPr>
            <a:picLocks noChangeAspect="1"/>
          </p:cNvPicPr>
          <p:nvPr/>
        </p:nvPicPr>
        <p:blipFill>
          <a:blip r:embed="rId1"/>
          <a:stretch>
            <a:fillRect/>
          </a:stretch>
        </p:blipFill>
        <p:spPr>
          <a:xfrm>
            <a:off x="868680" y="1691640"/>
            <a:ext cx="457200" cy="457200"/>
          </a:xfrm>
          <a:prstGeom prst="rect">
            <a:avLst/>
          </a:prstGeom>
        </p:spPr>
      </p:pic>
      <p:sp>
        <p:nvSpPr>
          <p:cNvPr id="5" name="Text 2"/>
          <p:cNvSpPr txBox="1"/>
          <p:nvPr/>
        </p:nvSpPr>
        <p:spPr>
          <a:xfrm>
            <a:off x="1508760" y="1691640"/>
            <a:ext cx="411480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Objectifs métier</a:t>
            </a:r>
            <a:endParaRPr lang="en-US" sz="2200" dirty="0"/>
          </a:p>
        </p:txBody>
      </p:sp>
      <p:sp>
        <p:nvSpPr>
          <p:cNvPr id="6" name="Text 3"/>
          <p:cNvSpPr txBox="1"/>
          <p:nvPr/>
        </p:nvSpPr>
        <p:spPr>
          <a:xfrm>
            <a:off x="868680" y="2423160"/>
            <a:ext cx="4754880" cy="1051560"/>
          </a:xfrm>
          <a:prstGeom prst="rect">
            <a:avLst/>
          </a:prstGeom>
          <a:noFill/>
          <a:ln/>
        </p:spPr>
        <p:txBody>
          <a:bodyPr wrap="square" lIns="0" tIns="0" rIns="0" bIns="0" rtlCol="0" anchor="t"/>
          <a:lstStyle/>
          <a:p>
            <a:pPr indent="0" marL="0">
              <a:buNone/>
            </a:pPr>
            <a:r>
              <a:rPr lang="en-US" sz="1600" b="1" dirty="0">
                <a:solidFill>
                  <a:srgbClr val="0B0B0B"/>
                </a:solidFill>
                <a:latin typeface="Calibri" pitchFamily="34" charset="0"/>
                <a:ea typeface="Calibri" pitchFamily="34" charset="-122"/>
                <a:cs typeface="Calibri" pitchFamily="34" charset="-120"/>
              </a:rPr>
              <a:t>Comparabilité</a:t>
            </a:r>
            <a:endParaRPr lang="en-US" sz="1600" dirty="0"/>
          </a:p>
          <a:p>
            <a:pPr indent="0" marL="0">
              <a:buNone/>
            </a:pPr>
            <a:r>
              <a:rPr lang="en-US" sz="1600" dirty="0">
                <a:solidFill>
                  <a:srgbClr val="333333"/>
                </a:solidFill>
                <a:latin typeface="Calibri" pitchFamily="34" charset="0"/>
                <a:ea typeface="Calibri" pitchFamily="34" charset="-122"/>
                <a:cs typeface="Calibri" pitchFamily="34" charset="-120"/>
              </a:rPr>
              <a:t>une méthode unique (EN 16258, facteurs ADEME) pour tous les clients</a:t>
            </a:r>
            <a:endParaRPr lang="en-US" sz="1600" dirty="0"/>
          </a:p>
        </p:txBody>
      </p:sp>
      <p:sp>
        <p:nvSpPr>
          <p:cNvPr id="7" name="Text 4"/>
          <p:cNvSpPr txBox="1"/>
          <p:nvPr/>
        </p:nvSpPr>
        <p:spPr>
          <a:xfrm>
            <a:off x="868680" y="3611880"/>
            <a:ext cx="4754880" cy="1051560"/>
          </a:xfrm>
          <a:prstGeom prst="rect">
            <a:avLst/>
          </a:prstGeom>
          <a:noFill/>
          <a:ln/>
        </p:spPr>
        <p:txBody>
          <a:bodyPr wrap="square" lIns="0" tIns="0" rIns="0" bIns="0" rtlCol="0" anchor="t"/>
          <a:lstStyle/>
          <a:p>
            <a:pPr indent="0" marL="0">
              <a:buNone/>
            </a:pPr>
            <a:r>
              <a:rPr lang="en-US" sz="1600" b="1" dirty="0">
                <a:solidFill>
                  <a:srgbClr val="0B0B0B"/>
                </a:solidFill>
                <a:latin typeface="Calibri" pitchFamily="34" charset="0"/>
                <a:ea typeface="Calibri" pitchFamily="34" charset="-122"/>
                <a:cs typeface="Calibri" pitchFamily="34" charset="-120"/>
              </a:rPr>
              <a:t>Transparence</a:t>
            </a:r>
            <a:endParaRPr lang="en-US" sz="1600" dirty="0"/>
          </a:p>
          <a:p>
            <a:pPr indent="0" marL="0">
              <a:buNone/>
            </a:pPr>
            <a:r>
              <a:rPr lang="en-US" sz="1600" dirty="0">
                <a:solidFill>
                  <a:srgbClr val="333333"/>
                </a:solidFill>
                <a:latin typeface="Calibri" pitchFamily="34" charset="0"/>
                <a:ea typeface="Calibri" pitchFamily="34" charset="-122"/>
                <a:cs typeface="Calibri" pitchFamily="34" charset="-120"/>
              </a:rPr>
              <a:t>chaque gramme se rattache à une étape, un véhicule, une source</a:t>
            </a:r>
            <a:endParaRPr lang="en-US" sz="1600" dirty="0"/>
          </a:p>
        </p:txBody>
      </p:sp>
      <p:sp>
        <p:nvSpPr>
          <p:cNvPr id="8" name="Text 5"/>
          <p:cNvSpPr txBox="1"/>
          <p:nvPr/>
        </p:nvSpPr>
        <p:spPr>
          <a:xfrm>
            <a:off x="868680" y="4800600"/>
            <a:ext cx="4754880" cy="1051560"/>
          </a:xfrm>
          <a:prstGeom prst="rect">
            <a:avLst/>
          </a:prstGeom>
          <a:noFill/>
          <a:ln/>
        </p:spPr>
        <p:txBody>
          <a:bodyPr wrap="square" lIns="0" tIns="0" rIns="0" bIns="0" rtlCol="0" anchor="t"/>
          <a:lstStyle/>
          <a:p>
            <a:pPr indent="0" marL="0">
              <a:buNone/>
            </a:pPr>
            <a:r>
              <a:rPr lang="en-US" sz="1600" b="1" dirty="0">
                <a:solidFill>
                  <a:srgbClr val="0B0B0B"/>
                </a:solidFill>
                <a:latin typeface="Calibri" pitchFamily="34" charset="0"/>
                <a:ea typeface="Calibri" pitchFamily="34" charset="-122"/>
                <a:cs typeface="Calibri" pitchFamily="34" charset="-120"/>
              </a:rPr>
              <a:t>Anticipation</a:t>
            </a:r>
            <a:endParaRPr lang="en-US" sz="1600" dirty="0"/>
          </a:p>
          <a:p>
            <a:pPr indent="0" marL="0">
              <a:buNone/>
            </a:pPr>
            <a:r>
              <a:rPr lang="en-US" sz="1600" dirty="0">
                <a:solidFill>
                  <a:srgbClr val="333333"/>
                </a:solidFill>
                <a:latin typeface="Calibri" pitchFamily="34" charset="0"/>
                <a:ea typeface="Calibri" pitchFamily="34" charset="-122"/>
                <a:cs typeface="Calibri" pitchFamily="34" charset="-120"/>
              </a:rPr>
              <a:t>estimer un envoi avant expédition pour orienter le choix du service</a:t>
            </a:r>
            <a:endParaRPr lang="en-US" sz="1600" dirty="0"/>
          </a:p>
        </p:txBody>
      </p:sp>
      <p:sp>
        <p:nvSpPr>
          <p:cNvPr id="9" name="colonne Contraintes"/>
          <p:cNvSpPr/>
          <p:nvPr/>
        </p:nvSpPr>
        <p:spPr>
          <a:xfrm>
            <a:off x="6172200" y="1463040"/>
            <a:ext cx="5394960" cy="4572000"/>
          </a:xfrm>
          <a:prstGeom prst="roundRect">
            <a:avLst>
              <a:gd name="adj" fmla="val 2400"/>
            </a:avLst>
          </a:prstGeom>
          <a:solidFill>
            <a:srgbClr val="F3F6F3"/>
          </a:solidFill>
          <a:ln w="12700">
            <a:solidFill>
              <a:srgbClr val="F3F6F3"/>
            </a:solidFill>
            <a:prstDash val="solid"/>
          </a:ln>
        </p:spPr>
      </p:sp>
      <p:pic>
        <p:nvPicPr>
          <p:cNvPr id="10" name="icone Contraintes" descr="preencoded.png">    </p:cNvPr>
          <p:cNvPicPr>
            <a:picLocks noChangeAspect="1"/>
          </p:cNvPicPr>
          <p:nvPr/>
        </p:nvPicPr>
        <p:blipFill>
          <a:blip r:embed="rId2"/>
          <a:stretch>
            <a:fillRect/>
          </a:stretch>
        </p:blipFill>
        <p:spPr>
          <a:xfrm>
            <a:off x="6492240" y="1691640"/>
            <a:ext cx="457200" cy="457200"/>
          </a:xfrm>
          <a:prstGeom prst="rect">
            <a:avLst/>
          </a:prstGeom>
        </p:spPr>
      </p:pic>
      <p:sp>
        <p:nvSpPr>
          <p:cNvPr id="11" name="Text 7"/>
          <p:cNvSpPr txBox="1"/>
          <p:nvPr/>
        </p:nvSpPr>
        <p:spPr>
          <a:xfrm>
            <a:off x="7132320" y="1691640"/>
            <a:ext cx="411480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Contraintes</a:t>
            </a:r>
            <a:endParaRPr lang="en-US" sz="2200" dirty="0"/>
          </a:p>
        </p:txBody>
      </p:sp>
      <p:sp>
        <p:nvSpPr>
          <p:cNvPr id="12" name="Text 8"/>
          <p:cNvSpPr txBox="1"/>
          <p:nvPr/>
        </p:nvSpPr>
        <p:spPr>
          <a:xfrm>
            <a:off x="6492240" y="2423160"/>
            <a:ext cx="4754880" cy="1051560"/>
          </a:xfrm>
          <a:prstGeom prst="rect">
            <a:avLst/>
          </a:prstGeom>
          <a:noFill/>
          <a:ln/>
        </p:spPr>
        <p:txBody>
          <a:bodyPr wrap="square" lIns="0" tIns="0" rIns="0" bIns="0" rtlCol="0" anchor="t"/>
          <a:lstStyle/>
          <a:p>
            <a:pPr indent="0" marL="0">
              <a:buNone/>
            </a:pPr>
            <a:r>
              <a:rPr lang="en-US" sz="1600" b="1" dirty="0">
                <a:solidFill>
                  <a:srgbClr val="0B0B0B"/>
                </a:solidFill>
                <a:latin typeface="Calibri" pitchFamily="34" charset="0"/>
                <a:ea typeface="Calibri" pitchFamily="34" charset="-122"/>
                <a:cs typeface="Calibri" pitchFamily="34" charset="-120"/>
              </a:rPr>
              <a:t>Sources hétérogènes</a:t>
            </a:r>
            <a:endParaRPr lang="en-US" sz="1600" dirty="0"/>
          </a:p>
          <a:p>
            <a:pPr indent="0" marL="0">
              <a:buNone/>
            </a:pPr>
            <a:r>
              <a:rPr lang="en-US" sz="1600" dirty="0">
                <a:solidFill>
                  <a:srgbClr val="333333"/>
                </a:solidFill>
                <a:latin typeface="Calibri" pitchFamily="34" charset="0"/>
                <a:ea typeface="Calibri" pitchFamily="34" charset="-122"/>
                <a:cs typeface="Calibri" pitchFamily="34" charset="-120"/>
              </a:rPr>
              <a:t>SAP, logs de scanners en deux formats, Excel transporteurs</a:t>
            </a:r>
            <a:endParaRPr lang="en-US" sz="1600" dirty="0"/>
          </a:p>
        </p:txBody>
      </p:sp>
      <p:sp>
        <p:nvSpPr>
          <p:cNvPr id="13" name="Text 9"/>
          <p:cNvSpPr txBox="1"/>
          <p:nvPr/>
        </p:nvSpPr>
        <p:spPr>
          <a:xfrm>
            <a:off x="6492240" y="3611880"/>
            <a:ext cx="4754880" cy="1051560"/>
          </a:xfrm>
          <a:prstGeom prst="rect">
            <a:avLst/>
          </a:prstGeom>
          <a:noFill/>
          <a:ln/>
        </p:spPr>
        <p:txBody>
          <a:bodyPr wrap="square" lIns="0" tIns="0" rIns="0" bIns="0" rtlCol="0" anchor="t"/>
          <a:lstStyle/>
          <a:p>
            <a:pPr indent="0" marL="0">
              <a:buNone/>
            </a:pPr>
            <a:r>
              <a:rPr lang="en-US" sz="1600" b="1" dirty="0">
                <a:solidFill>
                  <a:srgbClr val="0B0B0B"/>
                </a:solidFill>
                <a:latin typeface="Calibri" pitchFamily="34" charset="0"/>
                <a:ea typeface="Calibri" pitchFamily="34" charset="-122"/>
                <a:cs typeface="Calibri" pitchFamily="34" charset="-120"/>
              </a:rPr>
              <a:t>Chaîne incomplète</a:t>
            </a:r>
            <a:endParaRPr lang="en-US" sz="1600" dirty="0"/>
          </a:p>
          <a:p>
            <a:pPr indent="0" marL="0">
              <a:buNone/>
            </a:pPr>
            <a:r>
              <a:rPr lang="en-US" sz="1600" dirty="0">
                <a:solidFill>
                  <a:srgbClr val="333333"/>
                </a:solidFill>
                <a:latin typeface="Calibri" pitchFamily="34" charset="0"/>
                <a:ea typeface="Calibri" pitchFamily="34" charset="-122"/>
                <a:cs typeface="Calibri" pitchFamily="34" charset="-120"/>
              </a:rPr>
              <a:t>scans oubliés, transporteurs non renseignés, colis en transit</a:t>
            </a:r>
            <a:endParaRPr lang="en-US" sz="1600" dirty="0"/>
          </a:p>
        </p:txBody>
      </p:sp>
      <p:sp>
        <p:nvSpPr>
          <p:cNvPr id="14" name="Text 10"/>
          <p:cNvSpPr txBox="1"/>
          <p:nvPr/>
        </p:nvSpPr>
        <p:spPr>
          <a:xfrm>
            <a:off x="6492240" y="4800600"/>
            <a:ext cx="4754880" cy="1051560"/>
          </a:xfrm>
          <a:prstGeom prst="rect">
            <a:avLst/>
          </a:prstGeom>
          <a:noFill/>
          <a:ln/>
        </p:spPr>
        <p:txBody>
          <a:bodyPr wrap="square" lIns="0" tIns="0" rIns="0" bIns="0" rtlCol="0" anchor="t"/>
          <a:lstStyle/>
          <a:p>
            <a:pPr indent="0" marL="0">
              <a:buNone/>
            </a:pPr>
            <a:r>
              <a:rPr lang="en-US" sz="1600" b="1" dirty="0">
                <a:solidFill>
                  <a:srgbClr val="0B0B0B"/>
                </a:solidFill>
                <a:latin typeface="Calibri" pitchFamily="34" charset="0"/>
                <a:ea typeface="Calibri" pitchFamily="34" charset="-122"/>
                <a:cs typeface="Calibri" pitchFamily="34" charset="-120"/>
              </a:rPr>
              <a:t>Aucun référentiel</a:t>
            </a:r>
            <a:endParaRPr lang="en-US" sz="1600" dirty="0"/>
          </a:p>
          <a:p>
            <a:pPr indent="0" marL="0">
              <a:buNone/>
            </a:pPr>
            <a:r>
              <a:rPr lang="en-US" sz="1600" dirty="0">
                <a:solidFill>
                  <a:srgbClr val="333333"/>
                </a:solidFill>
                <a:latin typeface="Calibri" pitchFamily="34" charset="0"/>
                <a:ea typeface="Calibri" pitchFamily="34" charset="-122"/>
                <a:cs typeface="Calibri" pitchFamily="34" charset="-120"/>
              </a:rPr>
              <a:t>ni distances, ni facteurs, ni topologie du réseau prêts à l'emploi</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Neuf sources, dont cinq référentiels publics réels</a:t>
            </a:r>
            <a:endParaRPr lang="en-US" sz="3000" dirty="0"/>
          </a:p>
        </p:txBody>
      </p:sp>
      <p:graphicFrame>
        <p:nvGraphicFramePr>
          <p:cNvPr id="5" name="tableau sources"/>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3108960"/>
                <a:gridCol w="3931920"/>
                <a:gridCol w="167335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Apport</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Export SAP</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CSV Windows-1252, « ; », virgule décimale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commandes, poids, dimensions, service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8A8984"/>
                          </a:solidFill>
                          <a:latin typeface="Calibri" pitchFamily="34" charset="0"/>
                          <a:ea typeface="Calibri" pitchFamily="34" charset="-122"/>
                          <a:cs typeface="Calibri" pitchFamily="34" charset="-120"/>
                        </a:rPr>
                        <a:t>simulée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Flashages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12 fichiers JSON Lines, 2 firmwares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362 199 scans : site, heure, GPS, transporteur</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8A8984"/>
                          </a:solidFill>
                          <a:latin typeface="Calibri" pitchFamily="34" charset="0"/>
                          <a:ea typeface="Calibri" pitchFamily="34" charset="-122"/>
                          <a:cs typeface="Calibri" pitchFamily="34" charset="-120"/>
                        </a:rPr>
                        <a:t>simulée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Annuaire transporteurs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Excel, 2 onglets différents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véhicule et énergie de 110 flottes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8A8984"/>
                          </a:solidFill>
                          <a:latin typeface="Calibri" pitchFamily="34" charset="0"/>
                          <a:ea typeface="Calibri" pitchFamily="34" charset="-122"/>
                          <a:cs typeface="Calibri" pitchFamily="34" charset="-120"/>
                        </a:rPr>
                        <a:t>simulée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Référentiel des sites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CSV</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129 plateformes, agences, entrepôts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8A8984"/>
                          </a:solidFill>
                          <a:latin typeface="Calibri" pitchFamily="34" charset="0"/>
                          <a:ea typeface="Calibri" pitchFamily="34" charset="-122"/>
                          <a:cs typeface="Calibri" pitchFamily="34" charset="-120"/>
                        </a:rPr>
                        <a:t>simulée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Base Carbone ADEME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CSV latin-1, 18 616 lignes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22 facteurs fret, identifiants officiels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b="1" dirty="0">
                          <a:solidFill>
                            <a:srgbClr val="0F6B4F"/>
                          </a:solidFill>
                          <a:latin typeface="Calibri" pitchFamily="34" charset="0"/>
                          <a:ea typeface="Calibri" pitchFamily="34" charset="-122"/>
                          <a:cs typeface="Calibri" pitchFamily="34" charset="-120"/>
                        </a:rPr>
                        <a:t>réelle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GeoNames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TSV, 69 000 villes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géocodage, population, fuseaux</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b="1" dirty="0">
                          <a:solidFill>
                            <a:srgbClr val="0F6B4F"/>
                          </a:solidFill>
                          <a:latin typeface="Calibri" pitchFamily="34" charset="0"/>
                          <a:ea typeface="Calibri" pitchFamily="34" charset="-122"/>
                          <a:cs typeface="Calibri" pitchFamily="34" charset="-120"/>
                        </a:rPr>
                        <a:t>réelle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OpenFlights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CSV</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aéroports partenaires (IATA)</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b="1" dirty="0">
                          <a:solidFill>
                            <a:srgbClr val="0F6B4F"/>
                          </a:solidFill>
                          <a:latin typeface="Calibri" pitchFamily="34" charset="0"/>
                          <a:ea typeface="Calibri" pitchFamily="34" charset="-122"/>
                          <a:cs typeface="Calibri" pitchFamily="34" charset="-120"/>
                        </a:rPr>
                        <a:t>réelle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OSRM (OpenStreetMap)</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API</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16 512 distances routières réelles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b="1" dirty="0">
                          <a:solidFill>
                            <a:srgbClr val="0F6B4F"/>
                          </a:solidFill>
                          <a:latin typeface="Calibri" pitchFamily="34" charset="0"/>
                          <a:ea typeface="Calibri" pitchFamily="34" charset="-122"/>
                          <a:cs typeface="Calibri" pitchFamily="34" charset="-120"/>
                        </a:rPr>
                        <a:t>réelle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searoute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bibliothèque Python</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routes maritimes (Suez compris)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b="1" dirty="0">
                          <a:solidFill>
                            <a:srgbClr val="0F6B4F"/>
                          </a:solidFill>
                          <a:latin typeface="Calibri" pitchFamily="34" charset="0"/>
                          <a:ea typeface="Calibri" pitchFamily="34" charset="-122"/>
                          <a:cs typeface="Calibri" pitchFamily="34" charset="-120"/>
                        </a:rPr>
                        <a:t>réelle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bl>
          </a:graphicData>
        </a:graphic>
      </p:graphicFrame>
      <p:sp>
        <p:nvSpPr>
          <p:cNvPr id="4" name="Text 1"/>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Les sources internes sont simulées avec des défauts réalistes et une vérité terrain cachée : on peut mesurer la qualité du pipeline, ce qu'aucune donnée réelle ne permet.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Sept étapes, relancées de bout en bout en 90 secondes</a:t>
            </a:r>
            <a:endParaRPr lang="en-US" sz="3000" dirty="0"/>
          </a:p>
        </p:txBody>
      </p:sp>
      <p:sp>
        <p:nvSpPr>
          <p:cNvPr id="3" name="etape Découverte"/>
          <p:cNvSpPr/>
          <p:nvPr/>
        </p:nvSpPr>
        <p:spPr>
          <a:xfrm>
            <a:off x="548640" y="1737360"/>
            <a:ext cx="1412487" cy="2194560"/>
          </a:xfrm>
          <a:prstGeom prst="roundRect">
            <a:avLst>
              <a:gd name="adj" fmla="val 7768"/>
            </a:avLst>
          </a:prstGeom>
          <a:solidFill>
            <a:srgbClr val="0F3D2E"/>
          </a:solidFill>
          <a:ln w="12700">
            <a:solidFill>
              <a:srgbClr val="0F3D2E"/>
            </a:solidFill>
            <a:prstDash val="solid"/>
          </a:ln>
        </p:spPr>
      </p:sp>
      <p:sp>
        <p:nvSpPr>
          <p:cNvPr id="4" name="Text 2"/>
          <p:cNvSpPr txBox="1"/>
          <p:nvPr/>
        </p:nvSpPr>
        <p:spPr>
          <a:xfrm>
            <a:off x="685800" y="1828800"/>
            <a:ext cx="457200" cy="365760"/>
          </a:xfrm>
          <a:prstGeom prst="rect">
            <a:avLst/>
          </a:prstGeom>
          <a:noFill/>
          <a:ln/>
        </p:spPr>
        <p:txBody>
          <a:bodyPr wrap="square" lIns="0" tIns="0" rIns="0" bIns="0" rtlCol="0" anchor="ctr"/>
          <a:lstStyle/>
          <a:p>
            <a:pPr indent="0" marL="0">
              <a:buNone/>
            </a:pPr>
            <a:r>
              <a:rPr lang="en-US" sz="1400" b="1" dirty="0">
                <a:solidFill>
                  <a:srgbClr val="C9DCD2"/>
                </a:solidFill>
                <a:latin typeface="Calibri" pitchFamily="34" charset="0"/>
                <a:ea typeface="Calibri" pitchFamily="34" charset="-122"/>
                <a:cs typeface="Calibri" pitchFamily="34" charset="-120"/>
              </a:rPr>
              <a:t>1</a:t>
            </a:r>
            <a:endParaRPr lang="en-US" sz="1400" dirty="0"/>
          </a:p>
        </p:txBody>
      </p:sp>
      <p:pic>
        <p:nvPicPr>
          <p:cNvPr id="5" name="icone Découverte" descr="preencoded.png">    </p:cNvPr>
          <p:cNvPicPr>
            <a:picLocks noChangeAspect="1"/>
          </p:cNvPicPr>
          <p:nvPr/>
        </p:nvPicPr>
        <p:blipFill>
          <a:blip r:embed="rId1"/>
          <a:stretch>
            <a:fillRect/>
          </a:stretch>
        </p:blipFill>
        <p:spPr>
          <a:xfrm>
            <a:off x="980563" y="2240280"/>
            <a:ext cx="548640" cy="548640"/>
          </a:xfrm>
          <a:prstGeom prst="rect">
            <a:avLst/>
          </a:prstGeom>
        </p:spPr>
      </p:pic>
      <p:sp>
        <p:nvSpPr>
          <p:cNvPr id="6" name="Text 3"/>
          <p:cNvSpPr txBox="1"/>
          <p:nvPr/>
        </p:nvSpPr>
        <p:spPr>
          <a:xfrm>
            <a:off x="621792" y="2926080"/>
            <a:ext cx="1266183"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Découverte</a:t>
            </a:r>
            <a:endParaRPr lang="en-US" sz="1500" dirty="0"/>
          </a:p>
        </p:txBody>
      </p:sp>
      <p:sp>
        <p:nvSpPr>
          <p:cNvPr id="7" name="Text 4"/>
          <p:cNvSpPr txBox="1"/>
          <p:nvPr/>
        </p:nvSpPr>
        <p:spPr>
          <a:xfrm>
            <a:off x="548640" y="4114800"/>
            <a:ext cx="1412487" cy="82296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rapport de profilage par formes</a:t>
            </a:r>
            <a:endParaRPr lang="en-US" sz="1300" dirty="0"/>
          </a:p>
        </p:txBody>
      </p:sp>
      <p:sp>
        <p:nvSpPr>
          <p:cNvPr id="8" name="etape Ingestion"/>
          <p:cNvSpPr/>
          <p:nvPr/>
        </p:nvSpPr>
        <p:spPr>
          <a:xfrm>
            <a:off x="2162295" y="1737360"/>
            <a:ext cx="1412487" cy="2194560"/>
          </a:xfrm>
          <a:prstGeom prst="roundRect">
            <a:avLst>
              <a:gd name="adj" fmla="val 7768"/>
            </a:avLst>
          </a:prstGeom>
          <a:solidFill>
            <a:srgbClr val="0F6B4F"/>
          </a:solidFill>
          <a:ln w="12700">
            <a:solidFill>
              <a:srgbClr val="0F6B4F"/>
            </a:solidFill>
            <a:prstDash val="solid"/>
          </a:ln>
        </p:spPr>
      </p:sp>
      <p:sp>
        <p:nvSpPr>
          <p:cNvPr id="9" name="Text 6"/>
          <p:cNvSpPr txBox="1"/>
          <p:nvPr/>
        </p:nvSpPr>
        <p:spPr>
          <a:xfrm>
            <a:off x="2299455" y="1828800"/>
            <a:ext cx="457200" cy="365760"/>
          </a:xfrm>
          <a:prstGeom prst="rect">
            <a:avLst/>
          </a:prstGeom>
          <a:noFill/>
          <a:ln/>
        </p:spPr>
        <p:txBody>
          <a:bodyPr wrap="square" lIns="0" tIns="0" rIns="0" bIns="0" rtlCol="0" anchor="ctr"/>
          <a:lstStyle/>
          <a:p>
            <a:pPr indent="0" marL="0">
              <a:buNone/>
            </a:pPr>
            <a:r>
              <a:rPr lang="en-US" sz="1400" b="1" dirty="0">
                <a:solidFill>
                  <a:srgbClr val="C9DCD2"/>
                </a:solidFill>
                <a:latin typeface="Calibri" pitchFamily="34" charset="0"/>
                <a:ea typeface="Calibri" pitchFamily="34" charset="-122"/>
                <a:cs typeface="Calibri" pitchFamily="34" charset="-120"/>
              </a:rPr>
              <a:t>2</a:t>
            </a:r>
            <a:endParaRPr lang="en-US" sz="1400" dirty="0"/>
          </a:p>
        </p:txBody>
      </p:sp>
      <p:pic>
        <p:nvPicPr>
          <p:cNvPr id="10" name="icone Ingestion" descr="preencoded.png">    </p:cNvPr>
          <p:cNvPicPr>
            <a:picLocks noChangeAspect="1"/>
          </p:cNvPicPr>
          <p:nvPr/>
        </p:nvPicPr>
        <p:blipFill>
          <a:blip r:embed="rId2"/>
          <a:stretch>
            <a:fillRect/>
          </a:stretch>
        </p:blipFill>
        <p:spPr>
          <a:xfrm>
            <a:off x="2594218" y="2240280"/>
            <a:ext cx="548640" cy="548640"/>
          </a:xfrm>
          <a:prstGeom prst="rect">
            <a:avLst/>
          </a:prstGeom>
        </p:spPr>
      </p:pic>
      <p:sp>
        <p:nvSpPr>
          <p:cNvPr id="11" name="Text 7"/>
          <p:cNvSpPr txBox="1"/>
          <p:nvPr/>
        </p:nvSpPr>
        <p:spPr>
          <a:xfrm>
            <a:off x="2235447" y="2926080"/>
            <a:ext cx="1266183"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Ingestion</a:t>
            </a:r>
            <a:endParaRPr lang="en-US" sz="1500" dirty="0"/>
          </a:p>
        </p:txBody>
      </p:sp>
      <p:sp>
        <p:nvSpPr>
          <p:cNvPr id="12" name="Text 8"/>
          <p:cNvSpPr txBox="1"/>
          <p:nvPr/>
        </p:nvSpPr>
        <p:spPr>
          <a:xfrm>
            <a:off x="2162295" y="4114800"/>
            <a:ext cx="1412487" cy="82296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couche brute Parquet tracée</a:t>
            </a:r>
            <a:endParaRPr lang="en-US" sz="1300" dirty="0"/>
          </a:p>
        </p:txBody>
      </p:sp>
      <p:sp>
        <p:nvSpPr>
          <p:cNvPr id="13" name="etape Nettoyage"/>
          <p:cNvSpPr/>
          <p:nvPr/>
        </p:nvSpPr>
        <p:spPr>
          <a:xfrm>
            <a:off x="3775949" y="1737360"/>
            <a:ext cx="1412487" cy="2194560"/>
          </a:xfrm>
          <a:prstGeom prst="roundRect">
            <a:avLst>
              <a:gd name="adj" fmla="val 7768"/>
            </a:avLst>
          </a:prstGeom>
          <a:solidFill>
            <a:srgbClr val="0F3D2E"/>
          </a:solidFill>
          <a:ln w="12700">
            <a:solidFill>
              <a:srgbClr val="0F3D2E"/>
            </a:solidFill>
            <a:prstDash val="solid"/>
          </a:ln>
        </p:spPr>
      </p:sp>
      <p:sp>
        <p:nvSpPr>
          <p:cNvPr id="14" name="Text 10"/>
          <p:cNvSpPr txBox="1"/>
          <p:nvPr/>
        </p:nvSpPr>
        <p:spPr>
          <a:xfrm>
            <a:off x="3913109" y="1828800"/>
            <a:ext cx="457200" cy="365760"/>
          </a:xfrm>
          <a:prstGeom prst="rect">
            <a:avLst/>
          </a:prstGeom>
          <a:noFill/>
          <a:ln/>
        </p:spPr>
        <p:txBody>
          <a:bodyPr wrap="square" lIns="0" tIns="0" rIns="0" bIns="0" rtlCol="0" anchor="ctr"/>
          <a:lstStyle/>
          <a:p>
            <a:pPr indent="0" marL="0">
              <a:buNone/>
            </a:pPr>
            <a:r>
              <a:rPr lang="en-US" sz="1400" b="1" dirty="0">
                <a:solidFill>
                  <a:srgbClr val="C9DCD2"/>
                </a:solidFill>
                <a:latin typeface="Calibri" pitchFamily="34" charset="0"/>
                <a:ea typeface="Calibri" pitchFamily="34" charset="-122"/>
                <a:cs typeface="Calibri" pitchFamily="34" charset="-120"/>
              </a:rPr>
              <a:t>3</a:t>
            </a:r>
            <a:endParaRPr lang="en-US" sz="1400" dirty="0"/>
          </a:p>
        </p:txBody>
      </p:sp>
      <p:pic>
        <p:nvPicPr>
          <p:cNvPr id="15" name="icone Nettoyage" descr="preencoded.png">    </p:cNvPr>
          <p:cNvPicPr>
            <a:picLocks noChangeAspect="1"/>
          </p:cNvPicPr>
          <p:nvPr/>
        </p:nvPicPr>
        <p:blipFill>
          <a:blip r:embed="rId3"/>
          <a:stretch>
            <a:fillRect/>
          </a:stretch>
        </p:blipFill>
        <p:spPr>
          <a:xfrm>
            <a:off x="4207873" y="2240280"/>
            <a:ext cx="548640" cy="548640"/>
          </a:xfrm>
          <a:prstGeom prst="rect">
            <a:avLst/>
          </a:prstGeom>
        </p:spPr>
      </p:pic>
      <p:sp>
        <p:nvSpPr>
          <p:cNvPr id="16" name="Text 11"/>
          <p:cNvSpPr txBox="1"/>
          <p:nvPr/>
        </p:nvSpPr>
        <p:spPr>
          <a:xfrm>
            <a:off x="3849101" y="2926080"/>
            <a:ext cx="1266183"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Nettoyage</a:t>
            </a:r>
            <a:endParaRPr lang="en-US" sz="1500" dirty="0"/>
          </a:p>
        </p:txBody>
      </p:sp>
      <p:sp>
        <p:nvSpPr>
          <p:cNvPr id="17" name="Text 12"/>
          <p:cNvSpPr txBox="1"/>
          <p:nvPr/>
        </p:nvSpPr>
        <p:spPr>
          <a:xfrm>
            <a:off x="3775949" y="4114800"/>
            <a:ext cx="1412487" cy="82296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Raw Clean + journal des règles</a:t>
            </a:r>
            <a:endParaRPr lang="en-US" sz="1300" dirty="0"/>
          </a:p>
        </p:txBody>
      </p:sp>
      <p:sp>
        <p:nvSpPr>
          <p:cNvPr id="18" name="etape Enrichis- sement"/>
          <p:cNvSpPr/>
          <p:nvPr/>
        </p:nvSpPr>
        <p:spPr>
          <a:xfrm>
            <a:off x="5389604" y="1737360"/>
            <a:ext cx="1412487" cy="2194560"/>
          </a:xfrm>
          <a:prstGeom prst="roundRect">
            <a:avLst>
              <a:gd name="adj" fmla="val 7768"/>
            </a:avLst>
          </a:prstGeom>
          <a:solidFill>
            <a:srgbClr val="0F6B4F"/>
          </a:solidFill>
          <a:ln w="12700">
            <a:solidFill>
              <a:srgbClr val="0F6B4F"/>
            </a:solidFill>
            <a:prstDash val="solid"/>
          </a:ln>
        </p:spPr>
      </p:sp>
      <p:sp>
        <p:nvSpPr>
          <p:cNvPr id="19" name="Text 14"/>
          <p:cNvSpPr txBox="1"/>
          <p:nvPr/>
        </p:nvSpPr>
        <p:spPr>
          <a:xfrm>
            <a:off x="5526764" y="1828800"/>
            <a:ext cx="457200" cy="365760"/>
          </a:xfrm>
          <a:prstGeom prst="rect">
            <a:avLst/>
          </a:prstGeom>
          <a:noFill/>
          <a:ln/>
        </p:spPr>
        <p:txBody>
          <a:bodyPr wrap="square" lIns="0" tIns="0" rIns="0" bIns="0" rtlCol="0" anchor="ctr"/>
          <a:lstStyle/>
          <a:p>
            <a:pPr indent="0" marL="0">
              <a:buNone/>
            </a:pPr>
            <a:r>
              <a:rPr lang="en-US" sz="1400" b="1" dirty="0">
                <a:solidFill>
                  <a:srgbClr val="C9DCD2"/>
                </a:solidFill>
                <a:latin typeface="Calibri" pitchFamily="34" charset="0"/>
                <a:ea typeface="Calibri" pitchFamily="34" charset="-122"/>
                <a:cs typeface="Calibri" pitchFamily="34" charset="-120"/>
              </a:rPr>
              <a:t>4</a:t>
            </a:r>
            <a:endParaRPr lang="en-US" sz="1400" dirty="0"/>
          </a:p>
        </p:txBody>
      </p:sp>
      <p:pic>
        <p:nvPicPr>
          <p:cNvPr id="20" name="icone Enrichis- sement" descr="preencoded.png">    </p:cNvPr>
          <p:cNvPicPr>
            <a:picLocks noChangeAspect="1"/>
          </p:cNvPicPr>
          <p:nvPr/>
        </p:nvPicPr>
        <p:blipFill>
          <a:blip r:embed="rId4"/>
          <a:stretch>
            <a:fillRect/>
          </a:stretch>
        </p:blipFill>
        <p:spPr>
          <a:xfrm>
            <a:off x="5821528" y="2240280"/>
            <a:ext cx="548640" cy="548640"/>
          </a:xfrm>
          <a:prstGeom prst="rect">
            <a:avLst/>
          </a:prstGeom>
        </p:spPr>
      </p:pic>
      <p:sp>
        <p:nvSpPr>
          <p:cNvPr id="21" name="Text 15"/>
          <p:cNvSpPr txBox="1"/>
          <p:nvPr/>
        </p:nvSpPr>
        <p:spPr>
          <a:xfrm>
            <a:off x="5462756" y="2926080"/>
            <a:ext cx="1266183"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Enrichis-</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sement</a:t>
            </a:r>
            <a:endParaRPr lang="en-US" sz="1500" dirty="0"/>
          </a:p>
        </p:txBody>
      </p:sp>
      <p:sp>
        <p:nvSpPr>
          <p:cNvPr id="22" name="Text 16"/>
          <p:cNvSpPr txBox="1"/>
          <p:nvPr/>
        </p:nvSpPr>
        <p:spPr>
          <a:xfrm>
            <a:off x="5389604" y="4114800"/>
            <a:ext cx="1412487" cy="82296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géocodage, trajets, distances</a:t>
            </a:r>
            <a:endParaRPr lang="en-US" sz="1300" dirty="0"/>
          </a:p>
        </p:txBody>
      </p:sp>
      <p:sp>
        <p:nvSpPr>
          <p:cNvPr id="23" name="etape Features et ML"/>
          <p:cNvSpPr/>
          <p:nvPr/>
        </p:nvSpPr>
        <p:spPr>
          <a:xfrm>
            <a:off x="7003259" y="1737360"/>
            <a:ext cx="1412487" cy="2194560"/>
          </a:xfrm>
          <a:prstGeom prst="roundRect">
            <a:avLst>
              <a:gd name="adj" fmla="val 7768"/>
            </a:avLst>
          </a:prstGeom>
          <a:solidFill>
            <a:srgbClr val="0F3D2E"/>
          </a:solidFill>
          <a:ln w="12700">
            <a:solidFill>
              <a:srgbClr val="0F3D2E"/>
            </a:solidFill>
            <a:prstDash val="solid"/>
          </a:ln>
        </p:spPr>
      </p:sp>
      <p:sp>
        <p:nvSpPr>
          <p:cNvPr id="24" name="Text 18"/>
          <p:cNvSpPr txBox="1"/>
          <p:nvPr/>
        </p:nvSpPr>
        <p:spPr>
          <a:xfrm>
            <a:off x="7140419" y="1828800"/>
            <a:ext cx="457200" cy="365760"/>
          </a:xfrm>
          <a:prstGeom prst="rect">
            <a:avLst/>
          </a:prstGeom>
          <a:noFill/>
          <a:ln/>
        </p:spPr>
        <p:txBody>
          <a:bodyPr wrap="square" lIns="0" tIns="0" rIns="0" bIns="0" rtlCol="0" anchor="ctr"/>
          <a:lstStyle/>
          <a:p>
            <a:pPr indent="0" marL="0">
              <a:buNone/>
            </a:pPr>
            <a:r>
              <a:rPr lang="en-US" sz="1400" b="1" dirty="0">
                <a:solidFill>
                  <a:srgbClr val="C9DCD2"/>
                </a:solidFill>
                <a:latin typeface="Calibri" pitchFamily="34" charset="0"/>
                <a:ea typeface="Calibri" pitchFamily="34" charset="-122"/>
                <a:cs typeface="Calibri" pitchFamily="34" charset="-120"/>
              </a:rPr>
              <a:t>5</a:t>
            </a:r>
            <a:endParaRPr lang="en-US" sz="1400" dirty="0"/>
          </a:p>
        </p:txBody>
      </p:sp>
      <p:pic>
        <p:nvPicPr>
          <p:cNvPr id="25" name="icone Features et ML" descr="preencoded.png">    </p:cNvPr>
          <p:cNvPicPr>
            <a:picLocks noChangeAspect="1"/>
          </p:cNvPicPr>
          <p:nvPr/>
        </p:nvPicPr>
        <p:blipFill>
          <a:blip r:embed="rId5"/>
          <a:stretch>
            <a:fillRect/>
          </a:stretch>
        </p:blipFill>
        <p:spPr>
          <a:xfrm>
            <a:off x="7435182" y="2240280"/>
            <a:ext cx="548640" cy="548640"/>
          </a:xfrm>
          <a:prstGeom prst="rect">
            <a:avLst/>
          </a:prstGeom>
        </p:spPr>
      </p:pic>
      <p:sp>
        <p:nvSpPr>
          <p:cNvPr id="26" name="Text 19"/>
          <p:cNvSpPr txBox="1"/>
          <p:nvPr/>
        </p:nvSpPr>
        <p:spPr>
          <a:xfrm>
            <a:off x="7076411" y="2926080"/>
            <a:ext cx="1266183"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Features</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et ML</a:t>
            </a:r>
            <a:endParaRPr lang="en-US" sz="1500" dirty="0"/>
          </a:p>
        </p:txBody>
      </p:sp>
      <p:sp>
        <p:nvSpPr>
          <p:cNvPr id="27" name="Text 20"/>
          <p:cNvSpPr txBox="1"/>
          <p:nvPr/>
        </p:nvSpPr>
        <p:spPr>
          <a:xfrm>
            <a:off x="7003259" y="4114800"/>
            <a:ext cx="1412487" cy="82296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véhicules, facteurs, 3 modèles</a:t>
            </a:r>
            <a:endParaRPr lang="en-US" sz="1300" dirty="0"/>
          </a:p>
        </p:txBody>
      </p:sp>
      <p:sp>
        <p:nvSpPr>
          <p:cNvPr id="28" name="etape Validation"/>
          <p:cNvSpPr/>
          <p:nvPr/>
        </p:nvSpPr>
        <p:spPr>
          <a:xfrm>
            <a:off x="8616914" y="1737360"/>
            <a:ext cx="1412487" cy="2194560"/>
          </a:xfrm>
          <a:prstGeom prst="roundRect">
            <a:avLst>
              <a:gd name="adj" fmla="val 7768"/>
            </a:avLst>
          </a:prstGeom>
          <a:solidFill>
            <a:srgbClr val="0F6B4F"/>
          </a:solidFill>
          <a:ln w="12700">
            <a:solidFill>
              <a:srgbClr val="0F6B4F"/>
            </a:solidFill>
            <a:prstDash val="solid"/>
          </a:ln>
        </p:spPr>
      </p:sp>
      <p:sp>
        <p:nvSpPr>
          <p:cNvPr id="29" name="Text 22"/>
          <p:cNvSpPr txBox="1"/>
          <p:nvPr/>
        </p:nvSpPr>
        <p:spPr>
          <a:xfrm>
            <a:off x="8754074" y="1828800"/>
            <a:ext cx="457200" cy="365760"/>
          </a:xfrm>
          <a:prstGeom prst="rect">
            <a:avLst/>
          </a:prstGeom>
          <a:noFill/>
          <a:ln/>
        </p:spPr>
        <p:txBody>
          <a:bodyPr wrap="square" lIns="0" tIns="0" rIns="0" bIns="0" rtlCol="0" anchor="ctr"/>
          <a:lstStyle/>
          <a:p>
            <a:pPr indent="0" marL="0">
              <a:buNone/>
            </a:pPr>
            <a:r>
              <a:rPr lang="en-US" sz="1400" b="1" dirty="0">
                <a:solidFill>
                  <a:srgbClr val="C9DCD2"/>
                </a:solidFill>
                <a:latin typeface="Calibri" pitchFamily="34" charset="0"/>
                <a:ea typeface="Calibri" pitchFamily="34" charset="-122"/>
                <a:cs typeface="Calibri" pitchFamily="34" charset="-120"/>
              </a:rPr>
              <a:t>6</a:t>
            </a:r>
            <a:endParaRPr lang="en-US" sz="1400" dirty="0"/>
          </a:p>
        </p:txBody>
      </p:sp>
      <p:pic>
        <p:nvPicPr>
          <p:cNvPr id="30" name="icone Validation" descr="preencoded.png">    </p:cNvPr>
          <p:cNvPicPr>
            <a:picLocks noChangeAspect="1"/>
          </p:cNvPicPr>
          <p:nvPr/>
        </p:nvPicPr>
        <p:blipFill>
          <a:blip r:embed="rId6"/>
          <a:stretch>
            <a:fillRect/>
          </a:stretch>
        </p:blipFill>
        <p:spPr>
          <a:xfrm>
            <a:off x="9048837" y="2240280"/>
            <a:ext cx="548640" cy="548640"/>
          </a:xfrm>
          <a:prstGeom prst="rect">
            <a:avLst/>
          </a:prstGeom>
        </p:spPr>
      </p:pic>
      <p:sp>
        <p:nvSpPr>
          <p:cNvPr id="31" name="Text 23"/>
          <p:cNvSpPr txBox="1"/>
          <p:nvPr/>
        </p:nvSpPr>
        <p:spPr>
          <a:xfrm>
            <a:off x="8690066" y="2926080"/>
            <a:ext cx="1266183"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Validation</a:t>
            </a:r>
            <a:endParaRPr lang="en-US" sz="1500" dirty="0"/>
          </a:p>
        </p:txBody>
      </p:sp>
      <p:sp>
        <p:nvSpPr>
          <p:cNvPr id="32" name="Text 24"/>
          <p:cNvSpPr txBox="1"/>
          <p:nvPr/>
        </p:nvSpPr>
        <p:spPr>
          <a:xfrm>
            <a:off x="8616914" y="4114800"/>
            <a:ext cx="1412487" cy="82296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13 règles + vérité terrain</a:t>
            </a:r>
            <a:endParaRPr lang="en-US" sz="1300" dirty="0"/>
          </a:p>
        </p:txBody>
      </p:sp>
      <p:sp>
        <p:nvSpPr>
          <p:cNvPr id="33" name="etape Publication"/>
          <p:cNvSpPr/>
          <p:nvPr/>
        </p:nvSpPr>
        <p:spPr>
          <a:xfrm>
            <a:off x="10230568" y="1737360"/>
            <a:ext cx="1412487" cy="2194560"/>
          </a:xfrm>
          <a:prstGeom prst="roundRect">
            <a:avLst>
              <a:gd name="adj" fmla="val 7768"/>
            </a:avLst>
          </a:prstGeom>
          <a:solidFill>
            <a:srgbClr val="0F3D2E"/>
          </a:solidFill>
          <a:ln w="12700">
            <a:solidFill>
              <a:srgbClr val="0F3D2E"/>
            </a:solidFill>
            <a:prstDash val="solid"/>
          </a:ln>
        </p:spPr>
      </p:sp>
      <p:sp>
        <p:nvSpPr>
          <p:cNvPr id="34" name="Text 26"/>
          <p:cNvSpPr txBox="1"/>
          <p:nvPr/>
        </p:nvSpPr>
        <p:spPr>
          <a:xfrm>
            <a:off x="10367728" y="1828800"/>
            <a:ext cx="457200" cy="365760"/>
          </a:xfrm>
          <a:prstGeom prst="rect">
            <a:avLst/>
          </a:prstGeom>
          <a:noFill/>
          <a:ln/>
        </p:spPr>
        <p:txBody>
          <a:bodyPr wrap="square" lIns="0" tIns="0" rIns="0" bIns="0" rtlCol="0" anchor="ctr"/>
          <a:lstStyle/>
          <a:p>
            <a:pPr indent="0" marL="0">
              <a:buNone/>
            </a:pPr>
            <a:r>
              <a:rPr lang="en-US" sz="1400" b="1" dirty="0">
                <a:solidFill>
                  <a:srgbClr val="C9DCD2"/>
                </a:solidFill>
                <a:latin typeface="Calibri" pitchFamily="34" charset="0"/>
                <a:ea typeface="Calibri" pitchFamily="34" charset="-122"/>
                <a:cs typeface="Calibri" pitchFamily="34" charset="-120"/>
              </a:rPr>
              <a:t>7</a:t>
            </a:r>
            <a:endParaRPr lang="en-US" sz="1400" dirty="0"/>
          </a:p>
        </p:txBody>
      </p:sp>
      <p:pic>
        <p:nvPicPr>
          <p:cNvPr id="35" name="icone Publication" descr="preencoded.png">    </p:cNvPr>
          <p:cNvPicPr>
            <a:picLocks noChangeAspect="1"/>
          </p:cNvPicPr>
          <p:nvPr/>
        </p:nvPicPr>
        <p:blipFill>
          <a:blip r:embed="rId7"/>
          <a:stretch>
            <a:fillRect/>
          </a:stretch>
        </p:blipFill>
        <p:spPr>
          <a:xfrm>
            <a:off x="10662492" y="2240280"/>
            <a:ext cx="548640" cy="548640"/>
          </a:xfrm>
          <a:prstGeom prst="rect">
            <a:avLst/>
          </a:prstGeom>
        </p:spPr>
      </p:pic>
      <p:sp>
        <p:nvSpPr>
          <p:cNvPr id="36" name="Text 27"/>
          <p:cNvSpPr txBox="1"/>
          <p:nvPr/>
        </p:nvSpPr>
        <p:spPr>
          <a:xfrm>
            <a:off x="10303720" y="2926080"/>
            <a:ext cx="1266183"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Publication</a:t>
            </a:r>
            <a:endParaRPr lang="en-US" sz="1500" dirty="0"/>
          </a:p>
        </p:txBody>
      </p:sp>
      <p:sp>
        <p:nvSpPr>
          <p:cNvPr id="37" name="Text 28"/>
          <p:cNvSpPr txBox="1"/>
          <p:nvPr/>
        </p:nvSpPr>
        <p:spPr>
          <a:xfrm>
            <a:off x="10230568" y="4114800"/>
            <a:ext cx="1412487" cy="82296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Curated, Excel clients, interface</a:t>
            </a:r>
            <a:endParaRPr lang="en-US" sz="1300" dirty="0"/>
          </a:p>
        </p:txBody>
      </p:sp>
      <p:sp>
        <p:nvSpPr>
          <p:cNvPr id="38" name="commande"/>
          <p:cNvSpPr/>
          <p:nvPr/>
        </p:nvSpPr>
        <p:spPr>
          <a:xfrm>
            <a:off x="548640" y="5120640"/>
            <a:ext cx="11094415" cy="1005840"/>
          </a:xfrm>
          <a:prstGeom prst="roundRect">
            <a:avLst>
              <a:gd name="adj" fmla="val 10909"/>
            </a:avLst>
          </a:prstGeom>
          <a:solidFill>
            <a:srgbClr val="EEF3EE"/>
          </a:solidFill>
          <a:ln w="12700">
            <a:solidFill>
              <a:srgbClr val="EEF3EE"/>
            </a:solidFill>
            <a:prstDash val="solid"/>
          </a:ln>
        </p:spPr>
      </p:sp>
      <p:sp>
        <p:nvSpPr>
          <p:cNvPr id="39" name="Text 30"/>
          <p:cNvSpPr txBox="1"/>
          <p:nvPr/>
        </p:nvSpPr>
        <p:spPr>
          <a:xfrm>
            <a:off x="868680" y="5120640"/>
            <a:ext cx="10454335" cy="100584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python run_pipeline.py</a:t>
            </a:r>
            <a:pPr indent="0" marL="0">
              <a:buNone/>
            </a:pPr>
            <a:r>
              <a:rPr lang="en-US" sz="1500" dirty="0">
                <a:solidFill>
                  <a:srgbClr val="333333"/>
                </a:solidFill>
                <a:latin typeface="Calibri" pitchFamily="34" charset="0"/>
                <a:ea typeface="Calibri" pitchFamily="34" charset="-122"/>
                <a:cs typeface="Calibri" pitchFamily="34" charset="-120"/>
              </a:rPr>
              <a:t>   un module Python par étape (paquet co2), 17 tests unitaires, notebook exécuté, journal de chaque transformation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Chaque défaut est trouvé, corrigé et journalisé</a:t>
            </a:r>
            <a:endParaRPr lang="en-US" sz="3000" dirty="0"/>
          </a:p>
        </p:txBody>
      </p:sp>
      <p:sp>
        <p:nvSpPr>
          <p:cNvPr id="3" name="Text 1"/>
          <p:cNvSpPr txBox="1"/>
          <p:nvPr/>
        </p:nvSpPr>
        <p:spPr>
          <a:xfrm>
            <a:off x="548640" y="1417320"/>
            <a:ext cx="4206240" cy="7315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3 formats de date</a:t>
            </a:r>
            <a:endParaRPr lang="en-US" sz="1500" dirty="0"/>
          </a:p>
          <a:p>
            <a:pPr indent="0" marL="0">
              <a:buNone/>
            </a:pPr>
            <a:r>
              <a:rPr lang="en-US" sz="1500" dirty="0">
                <a:solidFill>
                  <a:srgbClr val="52514E"/>
                </a:solidFill>
                <a:latin typeface="Calibri" pitchFamily="34" charset="0"/>
                <a:ea typeface="Calibri" pitchFamily="34" charset="-122"/>
                <a:cs typeface="Calibri" pitchFamily="34" charset="-120"/>
              </a:rPr>
              <a:t>20260314, 14.03.2026, 2026-03-14</a:t>
            </a:r>
            <a:endParaRPr lang="en-US" sz="1500" dirty="0"/>
          </a:p>
        </p:txBody>
      </p:sp>
      <p:sp>
        <p:nvSpPr>
          <p:cNvPr id="4" name="Text 2"/>
          <p:cNvSpPr txBox="1"/>
          <p:nvPr/>
        </p:nvSpPr>
        <p:spPr>
          <a:xfrm>
            <a:off x="548640" y="2203704"/>
            <a:ext cx="4206240" cy="7315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22 libellés pour 8 clients</a:t>
            </a:r>
            <a:endParaRPr lang="en-US" sz="1500" dirty="0"/>
          </a:p>
          <a:p>
            <a:pPr indent="0" marL="0">
              <a:buNone/>
            </a:pPr>
            <a:r>
              <a:rPr lang="en-US" sz="1500" dirty="0">
                <a:solidFill>
                  <a:srgbClr val="52514E"/>
                </a:solidFill>
                <a:latin typeface="Calibri" pitchFamily="34" charset="0"/>
                <a:ea typeface="Calibri" pitchFamily="34" charset="-122"/>
                <a:cs typeface="Calibri" pitchFamily="34" charset="-120"/>
              </a:rPr>
              <a:t>AMAZON EU SARL, amazon.fr...</a:t>
            </a:r>
            <a:endParaRPr lang="en-US" sz="1500" dirty="0"/>
          </a:p>
        </p:txBody>
      </p:sp>
      <p:sp>
        <p:nvSpPr>
          <p:cNvPr id="5" name="Text 3"/>
          <p:cNvSpPr txBox="1"/>
          <p:nvPr/>
        </p:nvSpPr>
        <p:spPr>
          <a:xfrm>
            <a:off x="548640" y="2990088"/>
            <a:ext cx="4206240" cy="7315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1 334 poids en grammes</a:t>
            </a:r>
            <a:endParaRPr lang="en-US" sz="1500" dirty="0"/>
          </a:p>
          <a:p>
            <a:pPr indent="0" marL="0">
              <a:buNone/>
            </a:pPr>
            <a:r>
              <a:rPr lang="en-US" sz="1500" dirty="0">
                <a:solidFill>
                  <a:srgbClr val="52514E"/>
                </a:solidFill>
                <a:latin typeface="Calibri" pitchFamily="34" charset="0"/>
                <a:ea typeface="Calibri" pitchFamily="34" charset="-122"/>
                <a:cs typeface="Calibri" pitchFamily="34" charset="-120"/>
              </a:rPr>
              <a:t>déclarés en kg, divisés par 1 000</a:t>
            </a:r>
            <a:endParaRPr lang="en-US" sz="1500" dirty="0"/>
          </a:p>
        </p:txBody>
      </p:sp>
      <p:sp>
        <p:nvSpPr>
          <p:cNvPr id="6" name="Text 4"/>
          <p:cNvSpPr txBox="1"/>
          <p:nvPr/>
        </p:nvSpPr>
        <p:spPr>
          <a:xfrm>
            <a:off x="548640" y="3776472"/>
            <a:ext cx="4206240" cy="7315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2 firmwares de scanner</a:t>
            </a:r>
            <a:endParaRPr lang="en-US" sz="1500" dirty="0"/>
          </a:p>
          <a:p>
            <a:pPr indent="0" marL="0">
              <a:buNone/>
            </a:pPr>
            <a:r>
              <a:rPr lang="en-US" sz="1500" dirty="0">
                <a:solidFill>
                  <a:srgbClr val="52514E"/>
                </a:solidFill>
                <a:latin typeface="Calibri" pitchFamily="34" charset="0"/>
                <a:ea typeface="Calibri" pitchFamily="34" charset="-122"/>
                <a:cs typeface="Calibri" pitchFamily="34" charset="-120"/>
              </a:rPr>
              <a:t>epoch en ms et codes courts contre ISO 8601</a:t>
            </a:r>
            <a:endParaRPr lang="en-US" sz="1500" dirty="0"/>
          </a:p>
        </p:txBody>
      </p:sp>
      <p:sp>
        <p:nvSpPr>
          <p:cNvPr id="7" name="Text 5"/>
          <p:cNvSpPr txBox="1"/>
          <p:nvPr/>
        </p:nvSpPr>
        <p:spPr>
          <a:xfrm>
            <a:off x="548640" y="4562856"/>
            <a:ext cx="4206240" cy="7315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7 048 GPS inversés</a:t>
            </a:r>
            <a:endParaRPr lang="en-US" sz="1500" dirty="0"/>
          </a:p>
          <a:p>
            <a:pPr indent="0" marL="0">
              <a:buNone/>
            </a:pPr>
            <a:r>
              <a:rPr lang="en-US" sz="1500" dirty="0">
                <a:solidFill>
                  <a:srgbClr val="52514E"/>
                </a:solidFill>
                <a:latin typeface="Calibri" pitchFamily="34" charset="0"/>
                <a:ea typeface="Calibri" pitchFamily="34" charset="-122"/>
                <a:cs typeface="Calibri" pitchFamily="34" charset="-120"/>
              </a:rPr>
              <a:t>détectés par distance au site</a:t>
            </a:r>
            <a:endParaRPr lang="en-US" sz="1500" dirty="0"/>
          </a:p>
        </p:txBody>
      </p:sp>
      <p:sp>
        <p:nvSpPr>
          <p:cNvPr id="8" name="Text 6"/>
          <p:cNvSpPr txBox="1"/>
          <p:nvPr/>
        </p:nvSpPr>
        <p:spPr>
          <a:xfrm>
            <a:off x="548640" y="5349240"/>
            <a:ext cx="4206240" cy="7315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10 539 doubles flashages</a:t>
            </a:r>
            <a:endParaRPr lang="en-US" sz="1500" dirty="0"/>
          </a:p>
          <a:p>
            <a:pPr indent="0" marL="0">
              <a:buNone/>
            </a:pPr>
            <a:r>
              <a:rPr lang="en-US" sz="1500" dirty="0">
                <a:solidFill>
                  <a:srgbClr val="52514E"/>
                </a:solidFill>
                <a:latin typeface="Calibri" pitchFamily="34" charset="0"/>
                <a:ea typeface="Calibri" pitchFamily="34" charset="-122"/>
                <a:cs typeface="Calibri" pitchFamily="34" charset="-120"/>
              </a:rPr>
              <a:t>même scan à moins de 5 minutes</a:t>
            </a:r>
            <a:endParaRPr lang="en-US" sz="1500" dirty="0"/>
          </a:p>
        </p:txBody>
      </p:sp>
      <p:pic>
        <p:nvPicPr>
          <p:cNvPr id="9" name="figure défauts" descr="figure défauts">    </p:cNvPr>
          <p:cNvPicPr>
            <a:picLocks noChangeAspect="1"/>
          </p:cNvPicPr>
          <p:nvPr/>
        </p:nvPicPr>
        <p:blipFill>
          <a:blip r:embed="rId1"/>
          <a:stretch>
            <a:fillRect/>
          </a:stretch>
        </p:blipFill>
        <p:spPr>
          <a:xfrm>
            <a:off x="5029200" y="1417320"/>
            <a:ext cx="6583680" cy="3276033"/>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Les scans manquants sont déduits du réseau</a:t>
            </a:r>
            <a:endParaRPr lang="en-US" sz="3000" dirty="0"/>
          </a:p>
        </p:txBody>
      </p:sp>
      <p:sp>
        <p:nvSpPr>
          <p:cNvPr id="3" name="maillon 0"/>
          <p:cNvSpPr/>
          <p:nvPr/>
        </p:nvSpPr>
        <p:spPr>
          <a:xfrm>
            <a:off x="632308" y="1645920"/>
            <a:ext cx="1783080" cy="1188720"/>
          </a:xfrm>
          <a:prstGeom prst="roundRect">
            <a:avLst>
              <a:gd name="adj" fmla="val 9231"/>
            </a:avLst>
          </a:prstGeom>
          <a:solidFill>
            <a:srgbClr val="0F3D2E"/>
          </a:solidFill>
          <a:ln w="12700">
            <a:solidFill>
              <a:srgbClr val="0F3D2E"/>
            </a:solidFill>
            <a:prstDash val="solid"/>
          </a:ln>
        </p:spPr>
      </p:sp>
      <p:sp>
        <p:nvSpPr>
          <p:cNvPr id="4" name="Text 2"/>
          <p:cNvSpPr txBox="1"/>
          <p:nvPr/>
        </p:nvSpPr>
        <p:spPr>
          <a:xfrm>
            <a:off x="632308" y="1645920"/>
            <a:ext cx="17830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Entrepôt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Amiens</a:t>
            </a:r>
            <a:endParaRPr lang="en-US" sz="1600" dirty="0"/>
          </a:p>
        </p:txBody>
      </p:sp>
      <p:sp>
        <p:nvSpPr>
          <p:cNvPr id="5" name="fleche 0"/>
          <p:cNvSpPr/>
          <p:nvPr/>
        </p:nvSpPr>
        <p:spPr>
          <a:xfrm>
            <a:off x="2488540" y="2240280"/>
            <a:ext cx="356616" cy="0"/>
          </a:xfrm>
          <a:prstGeom prst="line">
            <a:avLst/>
          </a:prstGeom>
          <a:noFill/>
          <a:ln w="25400">
            <a:solidFill>
              <a:srgbClr val="8A8984"/>
            </a:solidFill>
            <a:prstDash val="solid"/>
            <a:tailEnd type="triangle"/>
          </a:ln>
        </p:spPr>
      </p:sp>
      <p:sp>
        <p:nvSpPr>
          <p:cNvPr id="6" name="maillon 1"/>
          <p:cNvSpPr/>
          <p:nvPr/>
        </p:nvSpPr>
        <p:spPr>
          <a:xfrm>
            <a:off x="2918308" y="1645920"/>
            <a:ext cx="1783080" cy="1188720"/>
          </a:xfrm>
          <a:prstGeom prst="roundRect">
            <a:avLst>
              <a:gd name="adj" fmla="val 9231"/>
            </a:avLst>
          </a:prstGeom>
          <a:solidFill>
            <a:srgbClr val="0F3D2E"/>
          </a:solidFill>
          <a:ln w="12700">
            <a:solidFill>
              <a:srgbClr val="0F3D2E"/>
            </a:solidFill>
            <a:prstDash val="solid"/>
          </a:ln>
        </p:spPr>
      </p:sp>
      <p:sp>
        <p:nvSpPr>
          <p:cNvPr id="7" name="Text 5"/>
          <p:cNvSpPr txBox="1"/>
          <p:nvPr/>
        </p:nvSpPr>
        <p:spPr>
          <a:xfrm>
            <a:off x="2918308" y="1645920"/>
            <a:ext cx="17830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Tri</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Lille</a:t>
            </a:r>
            <a:endParaRPr lang="en-US" sz="1600" dirty="0"/>
          </a:p>
        </p:txBody>
      </p:sp>
      <p:sp>
        <p:nvSpPr>
          <p:cNvPr id="8" name="fleche 1"/>
          <p:cNvSpPr/>
          <p:nvPr/>
        </p:nvSpPr>
        <p:spPr>
          <a:xfrm>
            <a:off x="4774540" y="2240280"/>
            <a:ext cx="356616" cy="0"/>
          </a:xfrm>
          <a:prstGeom prst="line">
            <a:avLst/>
          </a:prstGeom>
          <a:noFill/>
          <a:ln w="25400">
            <a:solidFill>
              <a:srgbClr val="8A8984"/>
            </a:solidFill>
            <a:prstDash val="solid"/>
            <a:tailEnd type="triangle"/>
          </a:ln>
        </p:spPr>
      </p:sp>
      <p:sp>
        <p:nvSpPr>
          <p:cNvPr id="9" name="maillon 2"/>
          <p:cNvSpPr/>
          <p:nvPr/>
        </p:nvSpPr>
        <p:spPr>
          <a:xfrm>
            <a:off x="5204308" y="1645920"/>
            <a:ext cx="1783080" cy="1188720"/>
          </a:xfrm>
          <a:prstGeom prst="roundRect">
            <a:avLst>
              <a:gd name="adj" fmla="val 9231"/>
            </a:avLst>
          </a:prstGeom>
          <a:solidFill>
            <a:srgbClr val="FFFFFF"/>
          </a:solidFill>
          <a:ln w="31750">
            <a:solidFill>
              <a:srgbClr val="EB6834"/>
            </a:solidFill>
            <a:prstDash val="dash"/>
          </a:ln>
        </p:spPr>
      </p:sp>
      <p:sp>
        <p:nvSpPr>
          <p:cNvPr id="10" name="Text 8"/>
          <p:cNvSpPr txBox="1"/>
          <p:nvPr/>
        </p:nvSpPr>
        <p:spPr>
          <a:xfrm>
            <a:off x="5204308" y="1645920"/>
            <a:ext cx="1783080" cy="1188720"/>
          </a:xfrm>
          <a:prstGeom prst="rect">
            <a:avLst/>
          </a:prstGeom>
          <a:noFill/>
          <a:ln/>
        </p:spPr>
        <p:txBody>
          <a:bodyPr wrap="square" lIns="0" tIns="0" rIns="0" bIns="0" rtlCol="0" anchor="ctr"/>
          <a:lstStyle/>
          <a:p>
            <a:pPr algn="ctr" indent="0" marL="0">
              <a:buNone/>
            </a:pPr>
            <a:r>
              <a:rPr lang="en-US" sz="1600" b="1" dirty="0">
                <a:solidFill>
                  <a:srgbClr val="EB6834"/>
                </a:solidFill>
                <a:latin typeface="Calibri" pitchFamily="34" charset="0"/>
                <a:ea typeface="Calibri" pitchFamily="34" charset="-122"/>
                <a:cs typeface="Calibri" pitchFamily="34" charset="-120"/>
              </a:rPr>
              <a:t>Tri</a:t>
            </a:r>
            <a:endParaRPr lang="en-US" sz="1600" dirty="0"/>
          </a:p>
          <a:p>
            <a:pPr algn="ctr" indent="0" marL="0">
              <a:buNone/>
            </a:pPr>
            <a:r>
              <a:rPr lang="en-US" sz="1600" b="1" dirty="0">
                <a:solidFill>
                  <a:srgbClr val="EB6834"/>
                </a:solidFill>
                <a:latin typeface="Calibri" pitchFamily="34" charset="0"/>
                <a:ea typeface="Calibri" pitchFamily="34" charset="-122"/>
                <a:cs typeface="Calibri" pitchFamily="34" charset="-120"/>
              </a:rPr>
              <a:t>Lyon</a:t>
            </a:r>
            <a:endParaRPr lang="en-US" sz="1600" dirty="0"/>
          </a:p>
        </p:txBody>
      </p:sp>
      <p:sp>
        <p:nvSpPr>
          <p:cNvPr id="11" name="fleche 2"/>
          <p:cNvSpPr/>
          <p:nvPr/>
        </p:nvSpPr>
        <p:spPr>
          <a:xfrm>
            <a:off x="7060540" y="2240280"/>
            <a:ext cx="356616" cy="0"/>
          </a:xfrm>
          <a:prstGeom prst="line">
            <a:avLst/>
          </a:prstGeom>
          <a:noFill/>
          <a:ln w="25400">
            <a:solidFill>
              <a:srgbClr val="8A8984"/>
            </a:solidFill>
            <a:prstDash val="solid"/>
            <a:tailEnd type="triangle"/>
          </a:ln>
        </p:spPr>
      </p:sp>
      <p:sp>
        <p:nvSpPr>
          <p:cNvPr id="12" name="maillon 3"/>
          <p:cNvSpPr/>
          <p:nvPr/>
        </p:nvSpPr>
        <p:spPr>
          <a:xfrm>
            <a:off x="7490308" y="1645920"/>
            <a:ext cx="1783080" cy="1188720"/>
          </a:xfrm>
          <a:prstGeom prst="roundRect">
            <a:avLst>
              <a:gd name="adj" fmla="val 9231"/>
            </a:avLst>
          </a:prstGeom>
          <a:solidFill>
            <a:srgbClr val="0F3D2E"/>
          </a:solidFill>
          <a:ln w="12700">
            <a:solidFill>
              <a:srgbClr val="0F3D2E"/>
            </a:solidFill>
            <a:prstDash val="solid"/>
          </a:ln>
        </p:spPr>
      </p:sp>
      <p:sp>
        <p:nvSpPr>
          <p:cNvPr id="13" name="Text 11"/>
          <p:cNvSpPr txBox="1"/>
          <p:nvPr/>
        </p:nvSpPr>
        <p:spPr>
          <a:xfrm>
            <a:off x="7490308" y="1645920"/>
            <a:ext cx="17830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Agence</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Grenoble</a:t>
            </a:r>
            <a:endParaRPr lang="en-US" sz="1600" dirty="0"/>
          </a:p>
        </p:txBody>
      </p:sp>
      <p:sp>
        <p:nvSpPr>
          <p:cNvPr id="14" name="fleche 3"/>
          <p:cNvSpPr/>
          <p:nvPr/>
        </p:nvSpPr>
        <p:spPr>
          <a:xfrm>
            <a:off x="9346540" y="2240280"/>
            <a:ext cx="356616" cy="0"/>
          </a:xfrm>
          <a:prstGeom prst="line">
            <a:avLst/>
          </a:prstGeom>
          <a:noFill/>
          <a:ln w="25400">
            <a:solidFill>
              <a:srgbClr val="8A8984"/>
            </a:solidFill>
            <a:prstDash val="solid"/>
            <a:tailEnd type="triangle"/>
          </a:ln>
        </p:spPr>
      </p:sp>
      <p:sp>
        <p:nvSpPr>
          <p:cNvPr id="15" name="maillon 4"/>
          <p:cNvSpPr/>
          <p:nvPr/>
        </p:nvSpPr>
        <p:spPr>
          <a:xfrm>
            <a:off x="9776308" y="1645920"/>
            <a:ext cx="1783080" cy="1188720"/>
          </a:xfrm>
          <a:prstGeom prst="roundRect">
            <a:avLst>
              <a:gd name="adj" fmla="val 9231"/>
            </a:avLst>
          </a:prstGeom>
          <a:solidFill>
            <a:srgbClr val="0F3D2E"/>
          </a:solidFill>
          <a:ln w="12700">
            <a:solidFill>
              <a:srgbClr val="0F3D2E"/>
            </a:solidFill>
            <a:prstDash val="solid"/>
          </a:ln>
        </p:spPr>
      </p:sp>
      <p:sp>
        <p:nvSpPr>
          <p:cNvPr id="16" name="Text 14"/>
          <p:cNvSpPr txBox="1"/>
          <p:nvPr/>
        </p:nvSpPr>
        <p:spPr>
          <a:xfrm>
            <a:off x="9776308" y="1645920"/>
            <a:ext cx="17830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Client</a:t>
            </a:r>
            <a:endParaRPr lang="en-US" sz="1600" dirty="0"/>
          </a:p>
        </p:txBody>
      </p:sp>
      <p:sp>
        <p:nvSpPr>
          <p:cNvPr id="17" name="Text 15"/>
          <p:cNvSpPr txBox="1"/>
          <p:nvPr/>
        </p:nvSpPr>
        <p:spPr>
          <a:xfrm>
            <a:off x="4929988" y="2926080"/>
            <a:ext cx="2331720" cy="365760"/>
          </a:xfrm>
          <a:prstGeom prst="rect">
            <a:avLst/>
          </a:prstGeom>
          <a:noFill/>
          <a:ln/>
        </p:spPr>
        <p:txBody>
          <a:bodyPr wrap="square" lIns="0" tIns="0" rIns="0" bIns="0" rtlCol="0" anchor="ctr"/>
          <a:lstStyle/>
          <a:p>
            <a:pPr algn="ctr" indent="0" marL="0">
              <a:buNone/>
            </a:pPr>
            <a:r>
              <a:rPr lang="en-US" sz="1300" i="1" dirty="0">
                <a:solidFill>
                  <a:srgbClr val="EB6834"/>
                </a:solidFill>
                <a:latin typeface="Calibri" pitchFamily="34" charset="0"/>
                <a:ea typeface="Calibri" pitchFamily="34" charset="-122"/>
                <a:cs typeface="Calibri" pitchFamily="34" charset="-120"/>
              </a:rPr>
              <a:t>scan manquant : plateforme déduite</a:t>
            </a:r>
            <a:endParaRPr lang="en-US" sz="1300" dirty="0"/>
          </a:p>
        </p:txBody>
      </p:sp>
      <p:sp>
        <p:nvSpPr>
          <p:cNvPr id="18" name="fait 0"/>
          <p:cNvSpPr/>
          <p:nvPr/>
        </p:nvSpPr>
        <p:spPr>
          <a:xfrm>
            <a:off x="548640" y="3749040"/>
            <a:ext cx="3520440" cy="2331720"/>
          </a:xfrm>
          <a:prstGeom prst="roundRect">
            <a:avLst>
              <a:gd name="adj" fmla="val 4706"/>
            </a:avLst>
          </a:prstGeom>
          <a:solidFill>
            <a:srgbClr val="EEF3EE"/>
          </a:solidFill>
          <a:ln w="12700">
            <a:solidFill>
              <a:srgbClr val="EEF3EE"/>
            </a:solidFill>
            <a:prstDash val="solid"/>
          </a:ln>
        </p:spPr>
      </p:sp>
      <p:sp>
        <p:nvSpPr>
          <p:cNvPr id="19" name="Text 17"/>
          <p:cNvSpPr txBox="1"/>
          <p:nvPr/>
        </p:nvSpPr>
        <p:spPr>
          <a:xfrm>
            <a:off x="822960" y="3931920"/>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117</a:t>
            </a:r>
            <a:endParaRPr lang="en-US" sz="3400" dirty="0"/>
          </a:p>
        </p:txBody>
      </p:sp>
      <p:sp>
        <p:nvSpPr>
          <p:cNvPr id="20" name="Text 18"/>
          <p:cNvSpPr txBox="1"/>
          <p:nvPr/>
        </p:nvSpPr>
        <p:spPr>
          <a:xfrm>
            <a:off x="822960" y="4709160"/>
            <a:ext cx="3017520" cy="12801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rattachements agence ou entrepôt → plateforme appris dans les scans (vote majoritaire)</a:t>
            </a:r>
            <a:endParaRPr lang="en-US" sz="1400" dirty="0"/>
          </a:p>
        </p:txBody>
      </p:sp>
      <p:sp>
        <p:nvSpPr>
          <p:cNvPr id="21" name="fait 1"/>
          <p:cNvSpPr/>
          <p:nvPr/>
        </p:nvSpPr>
        <p:spPr>
          <a:xfrm>
            <a:off x="4297680" y="3749040"/>
            <a:ext cx="3520440" cy="2331720"/>
          </a:xfrm>
          <a:prstGeom prst="roundRect">
            <a:avLst>
              <a:gd name="adj" fmla="val 4706"/>
            </a:avLst>
          </a:prstGeom>
          <a:solidFill>
            <a:srgbClr val="EEF3EE"/>
          </a:solidFill>
          <a:ln w="12700">
            <a:solidFill>
              <a:srgbClr val="EEF3EE"/>
            </a:solidFill>
            <a:prstDash val="solid"/>
          </a:ln>
        </p:spPr>
      </p:sp>
      <p:sp>
        <p:nvSpPr>
          <p:cNvPr id="22" name="Text 20"/>
          <p:cNvSpPr txBox="1"/>
          <p:nvPr/>
        </p:nvSpPr>
        <p:spPr>
          <a:xfrm>
            <a:off x="4572000" y="3931920"/>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15,8 %</a:t>
            </a:r>
            <a:endParaRPr lang="en-US" sz="3400" dirty="0"/>
          </a:p>
        </p:txBody>
      </p:sp>
      <p:sp>
        <p:nvSpPr>
          <p:cNvPr id="23" name="Text 21"/>
          <p:cNvSpPr txBox="1"/>
          <p:nvPr/>
        </p:nvSpPr>
        <p:spPr>
          <a:xfrm>
            <a:off x="4572000" y="4709160"/>
            <a:ext cx="3017520" cy="12801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des colis ont au moins une étape déduite, sans perte de précision notable</a:t>
            </a:r>
            <a:endParaRPr lang="en-US" sz="1400" dirty="0"/>
          </a:p>
        </p:txBody>
      </p:sp>
      <p:sp>
        <p:nvSpPr>
          <p:cNvPr id="24" name="fait 2"/>
          <p:cNvSpPr/>
          <p:nvPr/>
        </p:nvSpPr>
        <p:spPr>
          <a:xfrm>
            <a:off x="8046720" y="3749040"/>
            <a:ext cx="3520440" cy="2331720"/>
          </a:xfrm>
          <a:prstGeom prst="roundRect">
            <a:avLst>
              <a:gd name="adj" fmla="val 4706"/>
            </a:avLst>
          </a:prstGeom>
          <a:solidFill>
            <a:srgbClr val="EEF3EE"/>
          </a:solidFill>
          <a:ln w="12700">
            <a:solidFill>
              <a:srgbClr val="EEF3EE"/>
            </a:solidFill>
            <a:prstDash val="solid"/>
          </a:ln>
        </p:spPr>
      </p:sp>
      <p:sp>
        <p:nvSpPr>
          <p:cNvPr id="25" name="Text 23"/>
          <p:cNvSpPr txBox="1"/>
          <p:nvPr/>
        </p:nvSpPr>
        <p:spPr>
          <a:xfrm>
            <a:off x="8321040" y="3931920"/>
            <a:ext cx="3017520" cy="73152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98,5 %</a:t>
            </a:r>
            <a:endParaRPr lang="en-US" sz="3400" dirty="0"/>
          </a:p>
        </p:txBody>
      </p:sp>
      <p:sp>
        <p:nvSpPr>
          <p:cNvPr id="26" name="Text 24"/>
          <p:cNvSpPr txBox="1"/>
          <p:nvPr/>
        </p:nvSpPr>
        <p:spPr>
          <a:xfrm>
            <a:off x="8321040" y="4709160"/>
            <a:ext cx="3017520" cy="1280160"/>
          </a:xfrm>
          <a:prstGeom prst="rect">
            <a:avLst/>
          </a:prstGeom>
          <a:noFill/>
          <a:ln/>
        </p:spPr>
        <p:txBody>
          <a:bodyPr wrap="square" lIns="0" tIns="0" rIns="0" bIns="0" rtlCol="0" anchor="t"/>
          <a:lstStyle/>
          <a:p>
            <a:pPr indent="0" marL="0">
              <a:buNone/>
            </a:pPr>
            <a:r>
              <a:rPr lang="en-US" sz="1400" dirty="0">
                <a:solidFill>
                  <a:srgbClr val="333333"/>
                </a:solidFill>
                <a:latin typeface="Calibri" pitchFamily="34" charset="0"/>
                <a:ea typeface="Calibri" pitchFamily="34" charset="-122"/>
                <a:cs typeface="Calibri" pitchFamily="34" charset="-120"/>
              </a:rPr>
              <a:t>de bonnes prédictions du mode (avion, bateau, route) quand la porte d'entrée n'est pas flashée, contre 87,4 % pour la règle par pays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Distances réelles par mode, facteurs officiels de l'ADEME</a:t>
            </a:r>
            <a:endParaRPr lang="en-US" sz="3000" dirty="0"/>
          </a:p>
        </p:txBody>
      </p:sp>
      <p:pic>
        <p:nvPicPr>
          <p:cNvPr id="3" name="icone Route" descr="preencoded.png">    </p:cNvPr>
          <p:cNvPicPr>
            <a:picLocks noChangeAspect="1"/>
          </p:cNvPicPr>
          <p:nvPr/>
        </p:nvPicPr>
        <p:blipFill>
          <a:blip r:embed="rId1"/>
          <a:stretch>
            <a:fillRect/>
          </a:stretch>
        </p:blipFill>
        <p:spPr>
          <a:xfrm>
            <a:off x="548640" y="1554480"/>
            <a:ext cx="502920" cy="502920"/>
          </a:xfrm>
          <a:prstGeom prst="rect">
            <a:avLst/>
          </a:prstGeom>
        </p:spPr>
      </p:pic>
      <p:sp>
        <p:nvSpPr>
          <p:cNvPr id="4" name="Text 1"/>
          <p:cNvSpPr txBox="1"/>
          <p:nvPr/>
        </p:nvSpPr>
        <p:spPr>
          <a:xfrm>
            <a:off x="1280160" y="1463040"/>
            <a:ext cx="4480560" cy="10515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Route</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distance OSRM réelle entre sites ; sinon vol d'oiseau × 1,27, calibré sur 16 512 trajets</a:t>
            </a:r>
            <a:endParaRPr lang="en-US" sz="1400" dirty="0"/>
          </a:p>
        </p:txBody>
      </p:sp>
      <p:pic>
        <p:nvPicPr>
          <p:cNvPr id="5" name="icone Avion" descr="preencoded.png">    </p:cNvPr>
          <p:cNvPicPr>
            <a:picLocks noChangeAspect="1"/>
          </p:cNvPicPr>
          <p:nvPr/>
        </p:nvPicPr>
        <p:blipFill>
          <a:blip r:embed="rId2"/>
          <a:stretch>
            <a:fillRect/>
          </a:stretch>
        </p:blipFill>
        <p:spPr>
          <a:xfrm>
            <a:off x="548640" y="2697480"/>
            <a:ext cx="502920" cy="502920"/>
          </a:xfrm>
          <a:prstGeom prst="rect">
            <a:avLst/>
          </a:prstGeom>
        </p:spPr>
      </p:pic>
      <p:sp>
        <p:nvSpPr>
          <p:cNvPr id="6" name="Text 2"/>
          <p:cNvSpPr txBox="1"/>
          <p:nvPr/>
        </p:nvSpPr>
        <p:spPr>
          <a:xfrm>
            <a:off x="1280160" y="2606040"/>
            <a:ext cx="4480560" cy="10515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Avion</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orthodromie + 95 km (norme EN 16258), facteur selon la distance, traînées incluses</a:t>
            </a:r>
            <a:endParaRPr lang="en-US" sz="1400" dirty="0"/>
          </a:p>
        </p:txBody>
      </p:sp>
      <p:pic>
        <p:nvPicPr>
          <p:cNvPr id="7" name="icone Bateau" descr="preencoded.png">    </p:cNvPr>
          <p:cNvPicPr>
            <a:picLocks noChangeAspect="1"/>
          </p:cNvPicPr>
          <p:nvPr/>
        </p:nvPicPr>
        <p:blipFill>
          <a:blip r:embed="rId3"/>
          <a:stretch>
            <a:fillRect/>
          </a:stretch>
        </p:blipFill>
        <p:spPr>
          <a:xfrm>
            <a:off x="548640" y="3840480"/>
            <a:ext cx="502920" cy="502920"/>
          </a:xfrm>
          <a:prstGeom prst="rect">
            <a:avLst/>
          </a:prstGeom>
        </p:spPr>
      </p:pic>
      <p:sp>
        <p:nvSpPr>
          <p:cNvPr id="8" name="Text 3"/>
          <p:cNvSpPr txBox="1"/>
          <p:nvPr/>
        </p:nvSpPr>
        <p:spPr>
          <a:xfrm>
            <a:off x="1280160" y="3749040"/>
            <a:ext cx="4480560" cy="10515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Bateau</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route maritime réelle (searoute), facteur de la ligne Asie-Europe</a:t>
            </a:r>
            <a:endParaRPr lang="en-US" sz="1400" dirty="0"/>
          </a:p>
        </p:txBody>
      </p:sp>
      <p:pic>
        <p:nvPicPr>
          <p:cNvPr id="9" name="icone Dernier km" descr="preencoded.png">    </p:cNvPr>
          <p:cNvPicPr>
            <a:picLocks noChangeAspect="1"/>
          </p:cNvPicPr>
          <p:nvPr/>
        </p:nvPicPr>
        <p:blipFill>
          <a:blip r:embed="rId4"/>
          <a:stretch>
            <a:fillRect/>
          </a:stretch>
        </p:blipFill>
        <p:spPr>
          <a:xfrm>
            <a:off x="548640" y="4983480"/>
            <a:ext cx="502920" cy="502920"/>
          </a:xfrm>
          <a:prstGeom prst="rect">
            <a:avLst/>
          </a:prstGeom>
        </p:spPr>
      </p:pic>
      <p:sp>
        <p:nvSpPr>
          <p:cNvPr id="10" name="Text 4"/>
          <p:cNvSpPr txBox="1"/>
          <p:nvPr/>
        </p:nvSpPr>
        <p:spPr>
          <a:xfrm>
            <a:off x="1280160" y="4892040"/>
            <a:ext cx="4480560" cy="10515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Dernier km</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tournée : distance × 1,6 ; −40 % en point relais</a:t>
            </a:r>
            <a:endParaRPr lang="en-US" sz="1400" dirty="0"/>
          </a:p>
        </p:txBody>
      </p:sp>
      <p:graphicFrame>
        <p:nvGraphicFramePr>
          <p:cNvPr id="11" name="graphique facteurs" descr=""/>
          <p:cNvGraphicFramePr/>
          <p:nvPr/>
        </p:nvGraphicFramePr>
        <p:xfrm>
          <a:off x="6035040" y="1371600"/>
          <a:ext cx="5577840" cy="4754880"/>
        </p:xfrm>
        <a:graphic xmlns:a="http://schemas.openxmlformats.org/drawingml/2006/main">
          <a:graphicData uri="http://schemas.openxmlformats.org/drawingml/2006/chart">
            <c:chart xmlns:c="http://schemas.openxmlformats.org/drawingml/2006/chart" r:id="rId5"/>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Trois modèles, chacun comparé à une règle simple</a:t>
            </a:r>
            <a:endParaRPr lang="en-US" sz="3000" dirty="0"/>
          </a:p>
        </p:txBody>
      </p:sp>
      <p:graphicFrame>
        <p:nvGraphicFramePr>
          <p:cNvPr id="10" name="tableau modèles"/>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743200"/>
                <a:gridCol w="3108960"/>
                <a:gridCol w="2468880"/>
                <a:gridCol w="277063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Utilisé pour</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Règle simple</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Modèle</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r>
              <a:tr h="685800">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Avion, bateau ou route ?</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colis étrangers sans scan d'entrée</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87,4 % (mode du pays)</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b="1" dirty="0">
                          <a:solidFill>
                            <a:srgbClr val="0F6B4F"/>
                          </a:solidFill>
                          <a:latin typeface="Calibri" pitchFamily="34" charset="0"/>
                          <a:ea typeface="Calibri" pitchFamily="34" charset="-122"/>
                          <a:cs typeface="Calibri" pitchFamily="34" charset="-120"/>
                        </a:rPr>
                        <a:t>98,5 % de bonnes réponses</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685800">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Quel véhicule ?</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étapes sans transporteur (70 % des colis)</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69,7 % (le plus fréquent)</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b="1" dirty="0">
                          <a:solidFill>
                            <a:srgbClr val="0F6B4F"/>
                          </a:solidFill>
                          <a:latin typeface="Calibri" pitchFamily="34" charset="0"/>
                          <a:ea typeface="Calibri" pitchFamily="34" charset="-122"/>
                          <a:cs typeface="Calibri" pitchFamily="34" charset="-120"/>
                        </a:rPr>
                        <a:t>70,7 % + facteur moyen pondéré</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685800">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Combien de CO₂ avant l'envoi ?</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calculateur, contrôle des anomalies</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dirty="0">
                          <a:solidFill>
                            <a:srgbClr val="333333"/>
                          </a:solidFill>
                          <a:latin typeface="Calibri" pitchFamily="34" charset="0"/>
                          <a:ea typeface="Calibri" pitchFamily="34" charset="-122"/>
                          <a:cs typeface="Calibri" pitchFamily="34" charset="-120"/>
                        </a:rPr>
                        <a:t>55,7 % d'erreur médiane</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500" b="1" dirty="0">
                          <a:solidFill>
                            <a:srgbClr val="0F6B4F"/>
                          </a:solidFill>
                          <a:latin typeface="Calibri" pitchFamily="34" charset="0"/>
                          <a:ea typeface="Calibri" pitchFamily="34" charset="-122"/>
                          <a:cs typeface="Calibri" pitchFamily="34" charset="-120"/>
                        </a:rPr>
                        <a:t>16,8 %, intervalle à 80 % tenu à 79 %</a:t>
                      </a:r>
                      <a:endParaRPr lang="en-US" sz="15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bl>
          </a:graphicData>
        </a:graphic>
      </p:graphicFrame>
      <p:sp>
        <p:nvSpPr>
          <p:cNvPr id="4" name="lecture"/>
          <p:cNvSpPr/>
          <p:nvPr/>
        </p:nvSpPr>
        <p:spPr>
          <a:xfrm>
            <a:off x="548640" y="4526280"/>
            <a:ext cx="11094415" cy="1554480"/>
          </a:xfrm>
          <a:prstGeom prst="roundRect">
            <a:avLst>
              <a:gd name="adj" fmla="val 7059"/>
            </a:avLst>
          </a:prstGeom>
          <a:solidFill>
            <a:srgbClr val="EEF3EE"/>
          </a:solidFill>
          <a:ln w="12700">
            <a:solidFill>
              <a:srgbClr val="EEF3EE"/>
            </a:solidFill>
            <a:prstDash val="solid"/>
          </a:ln>
        </p:spPr>
      </p:sp>
      <p:sp>
        <p:nvSpPr>
          <p:cNvPr id="5" name="Text 2"/>
          <p:cNvSpPr txBox="1"/>
          <p:nvPr/>
        </p:nvSpPr>
        <p:spPr>
          <a:xfrm>
            <a:off x="868680" y="4617720"/>
            <a:ext cx="10454335" cy="137160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Ce qu'on en retient</a:t>
            </a:r>
            <a:endParaRPr lang="en-US" sz="1500" dirty="0"/>
          </a:p>
          <a:p>
            <a:pPr indent="0" marL="0">
              <a:buNone/>
            </a:pPr>
            <a:r>
              <a:rPr lang="en-US" sz="1500" dirty="0">
                <a:solidFill>
                  <a:srgbClr val="333333"/>
                </a:solidFill>
                <a:latin typeface="Calibri" pitchFamily="34" charset="0"/>
                <a:ea typeface="Calibri" pitchFamily="34" charset="-122"/>
                <a:cs typeface="Calibri" pitchFamily="34" charset="-120"/>
              </a:rPr>
              <a:t>Le véhicule exact est peu prévisible : le modèle gagne un point seulement. Mais en pondérant les facteurs par ses probabilités au lieu de prendre la classe la plus probable, le biais sur le total de l'option écologique passe de −6 % à −0,8 %. Les intervalles sont calibrés par régression quantile conformalisée.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2,2 % d'erreur médiane face à la vérité terrain</a:t>
            </a:r>
            <a:endParaRPr lang="en-US" sz="3000" dirty="0"/>
          </a:p>
        </p:txBody>
      </p:sp>
      <p:pic>
        <p:nvPicPr>
          <p:cNvPr id="3" name="nuage estimé contre réel" descr="nuage estimé contre réel">    </p:cNvPr>
          <p:cNvPicPr>
            <a:picLocks noChangeAspect="1"/>
          </p:cNvPicPr>
          <p:nvPr/>
        </p:nvPicPr>
        <p:blipFill>
          <a:blip r:embed="rId1"/>
          <a:stretch>
            <a:fillRect/>
          </a:stretch>
        </p:blipFill>
        <p:spPr>
          <a:xfrm>
            <a:off x="548640" y="1371600"/>
            <a:ext cx="4480560" cy="4029213"/>
          </a:xfrm>
          <a:prstGeom prst="rect">
            <a:avLst/>
          </a:prstGeom>
        </p:spPr>
      </p:pic>
      <p:pic>
        <p:nvPicPr>
          <p:cNvPr id="4" name="erreur par part observée" descr="erreur par part observée">    </p:cNvPr>
          <p:cNvPicPr>
            <a:picLocks noChangeAspect="1"/>
          </p:cNvPicPr>
          <p:nvPr/>
        </p:nvPicPr>
        <p:blipFill>
          <a:blip r:embed="rId2"/>
          <a:stretch>
            <a:fillRect/>
          </a:stretch>
        </p:blipFill>
        <p:spPr>
          <a:xfrm>
            <a:off x="5343181" y="1371600"/>
            <a:ext cx="6230037" cy="4023360"/>
          </a:xfrm>
          <a:prstGeom prst="rect">
            <a:avLst/>
          </a:prstGeom>
        </p:spPr>
      </p:pic>
      <p:sp>
        <p:nvSpPr>
          <p:cNvPr id="5" name="Text 1"/>
          <p:cNvSpPr txBox="1"/>
          <p:nvPr/>
        </p:nvSpPr>
        <p:spPr>
          <a:xfrm>
            <a:off x="5303520" y="5486400"/>
            <a:ext cx="6309360" cy="68580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Biais sur le total de l'année : 0,50 %. 92,2 % des colis à moins de 20 % près. 13 règles de cohérence : 11 OK, 2 alertes sous 1 %.</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Shein et Amazon concentrent 85 % des émissions</a:t>
            </a:r>
            <a:endParaRPr lang="en-US" sz="3000" dirty="0"/>
          </a:p>
        </p:txBody>
      </p:sp>
      <p:graphicFrame>
        <p:nvGraphicFramePr>
          <p:cNvPr id="3" name="graphique clients" descr=""/>
          <p:cNvGraphicFramePr/>
          <p:nvPr/>
        </p:nvGraphicFramePr>
        <p:xfrm>
          <a:off x="548640" y="137160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lecture Shein"/>
          <p:cNvSpPr/>
          <p:nvPr/>
        </p:nvSpPr>
        <p:spPr>
          <a:xfrm>
            <a:off x="7315200" y="1463040"/>
            <a:ext cx="4325112" cy="1417320"/>
          </a:xfrm>
          <a:prstGeom prst="roundRect">
            <a:avLst>
              <a:gd name="adj" fmla="val 7742"/>
            </a:avLst>
          </a:prstGeom>
          <a:solidFill>
            <a:srgbClr val="EEF3EE"/>
          </a:solidFill>
          <a:ln w="12700">
            <a:solidFill>
              <a:srgbClr val="EEF3EE"/>
            </a:solidFill>
            <a:prstDash val="solid"/>
          </a:ln>
        </p:spPr>
      </p:sp>
      <p:sp>
        <p:nvSpPr>
          <p:cNvPr id="5" name="Text 2"/>
          <p:cNvSpPr txBox="1"/>
          <p:nvPr/>
        </p:nvSpPr>
        <p:spPr>
          <a:xfrm>
            <a:off x="7589520" y="1600200"/>
            <a:ext cx="3840480" cy="11887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Shein</a:t>
            </a:r>
            <a:endParaRPr lang="en-US" sz="1500" dirty="0"/>
          </a:p>
          <a:p>
            <a:pPr indent="0" marL="0">
              <a:buNone/>
            </a:pPr>
            <a:r>
              <a:rPr lang="en-US" sz="1500" dirty="0">
                <a:solidFill>
                  <a:srgbClr val="333333"/>
                </a:solidFill>
                <a:latin typeface="Calibri" pitchFamily="34" charset="0"/>
                <a:ea typeface="Calibri" pitchFamily="34" charset="-122"/>
                <a:cs typeface="Calibri" pitchFamily="34" charset="-120"/>
              </a:rPr>
              <a:t>10 % des colis, 49 % des émissions : 99 % par avion, 4 kg par colis</a:t>
            </a:r>
            <a:endParaRPr lang="en-US" sz="1500" dirty="0"/>
          </a:p>
        </p:txBody>
      </p:sp>
      <p:sp>
        <p:nvSpPr>
          <p:cNvPr id="6" name="lecture Amazon"/>
          <p:cNvSpPr/>
          <p:nvPr/>
        </p:nvSpPr>
        <p:spPr>
          <a:xfrm>
            <a:off x="7315200" y="3063240"/>
            <a:ext cx="4325112" cy="1417320"/>
          </a:xfrm>
          <a:prstGeom prst="roundRect">
            <a:avLst>
              <a:gd name="adj" fmla="val 7742"/>
            </a:avLst>
          </a:prstGeom>
          <a:solidFill>
            <a:srgbClr val="EEF3EE"/>
          </a:solidFill>
          <a:ln w="12700">
            <a:solidFill>
              <a:srgbClr val="EEF3EE"/>
            </a:solidFill>
            <a:prstDash val="solid"/>
          </a:ln>
        </p:spPr>
      </p:sp>
      <p:sp>
        <p:nvSpPr>
          <p:cNvPr id="7" name="Text 4"/>
          <p:cNvSpPr txBox="1"/>
          <p:nvPr/>
        </p:nvSpPr>
        <p:spPr>
          <a:xfrm>
            <a:off x="7589520" y="3200400"/>
            <a:ext cx="3840480" cy="11887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Amazon</a:t>
            </a:r>
            <a:endParaRPr lang="en-US" sz="1500" dirty="0"/>
          </a:p>
          <a:p>
            <a:pPr indent="0" marL="0">
              <a:buNone/>
            </a:pPr>
            <a:r>
              <a:rPr lang="en-US" sz="1500" dirty="0">
                <a:solidFill>
                  <a:srgbClr val="333333"/>
                </a:solidFill>
                <a:latin typeface="Calibri" pitchFamily="34" charset="0"/>
                <a:ea typeface="Calibri" pitchFamily="34" charset="-122"/>
                <a:cs typeface="Calibri" pitchFamily="34" charset="-120"/>
              </a:rPr>
              <a:t>le colis médian émet 75 g, mais environ 8 % d'imports font 87 % du total</a:t>
            </a:r>
            <a:endParaRPr lang="en-US" sz="1500" dirty="0"/>
          </a:p>
        </p:txBody>
      </p:sp>
      <p:sp>
        <p:nvSpPr>
          <p:cNvPr id="8" name="lecture Vinted"/>
          <p:cNvSpPr/>
          <p:nvPr/>
        </p:nvSpPr>
        <p:spPr>
          <a:xfrm>
            <a:off x="7315200" y="4663440"/>
            <a:ext cx="4325112" cy="1417320"/>
          </a:xfrm>
          <a:prstGeom prst="roundRect">
            <a:avLst>
              <a:gd name="adj" fmla="val 7742"/>
            </a:avLst>
          </a:prstGeom>
          <a:solidFill>
            <a:srgbClr val="EEF3EE"/>
          </a:solidFill>
          <a:ln w="12700">
            <a:solidFill>
              <a:srgbClr val="EEF3EE"/>
            </a:solidFill>
            <a:prstDash val="solid"/>
          </a:ln>
        </p:spPr>
      </p:sp>
      <p:sp>
        <p:nvSpPr>
          <p:cNvPr id="9" name="Text 6"/>
          <p:cNvSpPr txBox="1"/>
          <p:nvPr/>
        </p:nvSpPr>
        <p:spPr>
          <a:xfrm>
            <a:off x="7589520" y="4800600"/>
            <a:ext cx="3840480" cy="118872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Vinted</a:t>
            </a:r>
            <a:endParaRPr lang="en-US" sz="1500" dirty="0"/>
          </a:p>
          <a:p>
            <a:pPr indent="0" marL="0">
              <a:buNone/>
            </a:pPr>
            <a:r>
              <a:rPr lang="en-US" sz="1500" dirty="0">
                <a:solidFill>
                  <a:srgbClr val="333333"/>
                </a:solidFill>
                <a:latin typeface="Calibri" pitchFamily="34" charset="0"/>
                <a:ea typeface="Calibri" pitchFamily="34" charset="-122"/>
                <a:cs typeface="Calibri" pitchFamily="34" charset="-120"/>
              </a:rPr>
              <a:t>13 142 colis entre particuliers pour 1,3 t : 96 g par colis, point relais majoritaire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Un kilo d'Asie : 8,6 kg CO₂e en avion, 182 g en bateau</a:t>
            </a:r>
            <a:endParaRPr lang="en-US" sz="3000" dirty="0"/>
          </a:p>
        </p:txBody>
      </p:sp>
      <p:graphicFrame>
        <p:nvGraphicFramePr>
          <p:cNvPr id="3" name="graphique par kilo" descr=""/>
          <p:cNvGraphicFramePr/>
          <p:nvPr/>
        </p:nvGraphicFramePr>
        <p:xfrm>
          <a:off x="548640" y="137160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levier 0"/>
          <p:cNvSpPr/>
          <p:nvPr/>
        </p:nvSpPr>
        <p:spPr>
          <a:xfrm>
            <a:off x="7315200" y="1463040"/>
            <a:ext cx="4325112" cy="1417320"/>
          </a:xfrm>
          <a:prstGeom prst="roundRect">
            <a:avLst>
              <a:gd name="adj" fmla="val 7742"/>
            </a:avLst>
          </a:prstGeom>
          <a:solidFill>
            <a:srgbClr val="EEF3EE"/>
          </a:solidFill>
          <a:ln w="12700">
            <a:solidFill>
              <a:srgbClr val="EEF3EE"/>
            </a:solidFill>
            <a:prstDash val="solid"/>
          </a:ln>
        </p:spPr>
      </p:sp>
      <p:sp>
        <p:nvSpPr>
          <p:cNvPr id="5" name="Text 2"/>
          <p:cNvSpPr txBox="1"/>
          <p:nvPr/>
        </p:nvSpPr>
        <p:spPr>
          <a:xfrm>
            <a:off x="7589520" y="1554480"/>
            <a:ext cx="1463040" cy="12344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 47</a:t>
            </a:r>
            <a:endParaRPr lang="en-US" sz="3000" dirty="0"/>
          </a:p>
        </p:txBody>
      </p:sp>
      <p:sp>
        <p:nvSpPr>
          <p:cNvPr id="6" name="Text 3"/>
          <p:cNvSpPr txBox="1"/>
          <p:nvPr/>
        </p:nvSpPr>
        <p:spPr>
          <a:xfrm>
            <a:off x="9098280" y="1554480"/>
            <a:ext cx="2377440" cy="12344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l'écart entre avion et bateau pour un même kilo</a:t>
            </a:r>
            <a:endParaRPr lang="en-US" sz="1400" dirty="0"/>
          </a:p>
        </p:txBody>
      </p:sp>
      <p:sp>
        <p:nvSpPr>
          <p:cNvPr id="7" name="levier 1"/>
          <p:cNvSpPr/>
          <p:nvPr/>
        </p:nvSpPr>
        <p:spPr>
          <a:xfrm>
            <a:off x="7315200" y="3063240"/>
            <a:ext cx="4325112" cy="1417320"/>
          </a:xfrm>
          <a:prstGeom prst="roundRect">
            <a:avLst>
              <a:gd name="adj" fmla="val 7742"/>
            </a:avLst>
          </a:prstGeom>
          <a:solidFill>
            <a:srgbClr val="EEF3EE"/>
          </a:solidFill>
          <a:ln w="12700">
            <a:solidFill>
              <a:srgbClr val="EEF3EE"/>
            </a:solidFill>
            <a:prstDash val="solid"/>
          </a:ln>
        </p:spPr>
      </p:sp>
      <p:sp>
        <p:nvSpPr>
          <p:cNvPr id="8" name="Text 5"/>
          <p:cNvSpPr txBox="1"/>
          <p:nvPr/>
        </p:nvSpPr>
        <p:spPr>
          <a:xfrm>
            <a:off x="7589520" y="3154680"/>
            <a:ext cx="1463040" cy="12344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− 41 %</a:t>
            </a:r>
            <a:endParaRPr lang="en-US" sz="3000" dirty="0"/>
          </a:p>
        </p:txBody>
      </p:sp>
      <p:sp>
        <p:nvSpPr>
          <p:cNvPr id="9" name="Text 6"/>
          <p:cNvSpPr txBox="1"/>
          <p:nvPr/>
        </p:nvSpPr>
        <p:spPr>
          <a:xfrm>
            <a:off x="9098280" y="3154680"/>
            <a:ext cx="2377440" cy="12344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l'option écologique face au standard (train, électrique, vélo cargo)</a:t>
            </a:r>
            <a:endParaRPr lang="en-US" sz="1400" dirty="0"/>
          </a:p>
        </p:txBody>
      </p:sp>
      <p:sp>
        <p:nvSpPr>
          <p:cNvPr id="10" name="levier 2"/>
          <p:cNvSpPr/>
          <p:nvPr/>
        </p:nvSpPr>
        <p:spPr>
          <a:xfrm>
            <a:off x="7315200" y="4663440"/>
            <a:ext cx="4325112" cy="1417320"/>
          </a:xfrm>
          <a:prstGeom prst="roundRect">
            <a:avLst>
              <a:gd name="adj" fmla="val 7742"/>
            </a:avLst>
          </a:prstGeom>
          <a:solidFill>
            <a:srgbClr val="EEF3EE"/>
          </a:solidFill>
          <a:ln w="12700">
            <a:solidFill>
              <a:srgbClr val="EEF3EE"/>
            </a:solidFill>
            <a:prstDash val="solid"/>
          </a:ln>
        </p:spPr>
      </p:sp>
      <p:sp>
        <p:nvSpPr>
          <p:cNvPr id="11" name="Text 8"/>
          <p:cNvSpPr txBox="1"/>
          <p:nvPr/>
        </p:nvSpPr>
        <p:spPr>
          <a:xfrm>
            <a:off x="7589520" y="4754880"/>
            <a:ext cx="1463040" cy="12344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 0</a:t>
            </a:r>
            <a:endParaRPr lang="en-US" sz="3000" dirty="0"/>
          </a:p>
        </p:txBody>
      </p:sp>
      <p:sp>
        <p:nvSpPr>
          <p:cNvPr id="12" name="Text 9"/>
          <p:cNvSpPr txBox="1"/>
          <p:nvPr/>
        </p:nvSpPr>
        <p:spPr>
          <a:xfrm>
            <a:off x="9098280" y="4754880"/>
            <a:ext cx="2377440" cy="12344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l'écart entre express et standard sur le territoire : l'express roule en ligne directe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Une interface pensée pour un client non technique</a:t>
            </a:r>
            <a:endParaRPr lang="en-US" sz="3000" dirty="0"/>
          </a:p>
        </p:txBody>
      </p:sp>
      <p:pic>
        <p:nvPicPr>
          <p:cNvPr id="3" name="capture calculateur" descr="capture calculateur">    </p:cNvPr>
          <p:cNvPicPr>
            <a:picLocks noChangeAspect="1"/>
          </p:cNvPicPr>
          <p:nvPr/>
        </p:nvPicPr>
        <p:blipFill>
          <a:blip r:embed="rId1"/>
          <a:stretch>
            <a:fillRect/>
          </a:stretch>
        </p:blipFill>
        <p:spPr>
          <a:xfrm>
            <a:off x="1005840" y="1371600"/>
            <a:ext cx="4526280" cy="3703320"/>
          </a:xfrm>
          <a:prstGeom prst="rect">
            <a:avLst/>
          </a:prstGeom>
        </p:spPr>
      </p:pic>
      <p:pic>
        <p:nvPicPr>
          <p:cNvPr id="4" name="capture bilan" descr="capture bilan">    </p:cNvPr>
          <p:cNvPicPr>
            <a:picLocks noChangeAspect="1"/>
          </p:cNvPicPr>
          <p:nvPr/>
        </p:nvPicPr>
        <p:blipFill>
          <a:blip r:embed="rId2"/>
          <a:stretch>
            <a:fillRect/>
          </a:stretch>
        </p:blipFill>
        <p:spPr>
          <a:xfrm>
            <a:off x="6656832" y="1371600"/>
            <a:ext cx="4526280" cy="3703320"/>
          </a:xfrm>
          <a:prstGeom prst="rect">
            <a:avLst/>
          </a:prstGeom>
        </p:spPr>
      </p:pic>
      <p:sp>
        <p:nvSpPr>
          <p:cNvPr id="5" name="Text 1"/>
          <p:cNvSpPr txBox="1"/>
          <p:nvPr/>
        </p:nvSpPr>
        <p:spPr>
          <a:xfrm>
            <a:off x="548640" y="5257800"/>
            <a:ext cx="3520440" cy="9144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Calculer un envoi</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départ, arrivée, poids : l'empreinte, le trajet, les autres options</a:t>
            </a:r>
            <a:endParaRPr lang="en-US" sz="1400" dirty="0"/>
          </a:p>
        </p:txBody>
      </p:sp>
      <p:sp>
        <p:nvSpPr>
          <p:cNvPr id="6" name="Text 2"/>
          <p:cNvSpPr txBox="1"/>
          <p:nvPr/>
        </p:nvSpPr>
        <p:spPr>
          <a:xfrm>
            <a:off x="4297680" y="5257800"/>
            <a:ext cx="3520440" cy="9144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Mon bilan carbone</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mois par mois, par mode, leviers simulés, export Excel</a:t>
            </a:r>
            <a:endParaRPr lang="en-US" sz="1400" dirty="0"/>
          </a:p>
        </p:txBody>
      </p:sp>
      <p:sp>
        <p:nvSpPr>
          <p:cNvPr id="7" name="Text 3"/>
          <p:cNvSpPr txBox="1"/>
          <p:nvPr/>
        </p:nvSpPr>
        <p:spPr>
          <a:xfrm>
            <a:off x="8046720" y="5257800"/>
            <a:ext cx="3520440" cy="9144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Comment c'est calculé</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la méthode en clair, les facteurs ADEME et les limites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000" b="1" dirty="0">
                <a:solidFill>
                  <a:schemeClr val="tx2"/>
                </a:solidFill>
              </a:rPr>
              <a:t>Organisation Scrum : 4 epics, 3 sprints de deux semaines</a:t>
            </a:r>
            <a:endParaRPr lang="en-US" sz="3000" dirty="0"/>
          </a:p>
        </p:txBody>
      </p:sp>
      <p:graphicFrame>
        <p:nvGraphicFramePr>
          <p:cNvPr id="15" name="tableau epics"/>
          <p:cNvGraphicFramePr>
            <a:graphicFrameLocks noGrp="1"/>
          </p:cNvGraphicFramePr>
          <p:nvPr>
            <p:extLst>
              <p:ext uri="{D42A27DB-BD31-4B8C-83A1-F6EECF244321}">
                <p14:modId xmlns:p14="http://schemas.microsoft.com/office/powerpoint/2010/main" val="1579011935"/>
              </p:ext>
            </p:extLst>
          </p:nvPr>
        </p:nvGraphicFramePr>
        <p:xfrm>
          <a:off x="548640" y="1417320"/>
          <a:ext cx="7498080" cy="914400"/>
        </p:xfrm>
        <a:graphic>
          <a:graphicData uri="http://schemas.openxmlformats.org/drawingml/2006/table">
            <a:tbl>
              <a:tblPr/>
              <a:tblGrid>
                <a:gridCol w="2286000"/>
                <a:gridCol w="4480560"/>
                <a:gridCol w="731520"/>
              </a:tblGrid>
              <a:tr h="7315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Epic</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Exemple de user story</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Sprint</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solidFill>
                      <a:srgbClr val="0F3D2E"/>
                    </a:solidFill>
                  </a:tcPr>
                </a:tc>
              </a:tr>
              <a:tr h="731520">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1. Ingestion des sources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En tant que data engineer, je veux charger SAP, scans et transporteurs dans un format unique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731520">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2. Qualité et nettoyage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En tant que data steward, je veux un journal de chaque correction appliquée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731520">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3. Calcul et modèles</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En tant que data scientist, je veux estimer le véhicule quand le transporteur manque</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r h="731520">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4. Restitution client</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En tant que responsable RSE d'un client, je veux mon bilan CO₂ mensuel en Excel</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D9DED9"/>
                      </a:solidFill>
                      <a:prstDash val="solid"/>
                      <a:round/>
                      <a:headEnd type="none" w="med" len="med"/>
                      <a:tailEnd type="none" w="med" len="med"/>
                    </a:lnL>
                    <a:lnR w="6350" cap="flat" cmpd="sng" algn="ctr">
                      <a:solidFill>
                        <a:srgbClr val="D9DED9"/>
                      </a:solidFill>
                      <a:prstDash val="solid"/>
                      <a:round/>
                      <a:headEnd type="none" w="med" len="med"/>
                      <a:tailEnd type="none" w="med" len="med"/>
                    </a:lnR>
                    <a:lnT w="6350" cap="flat" cmpd="sng" algn="ctr">
                      <a:solidFill>
                        <a:srgbClr val="D9DED9"/>
                      </a:solidFill>
                      <a:prstDash val="solid"/>
                      <a:round/>
                      <a:headEnd type="none" w="med" len="med"/>
                      <a:tailEnd type="none" w="med" len="med"/>
                    </a:lnT>
                    <a:lnB w="6350" cap="flat" cmpd="sng" algn="ctr">
                      <a:solidFill>
                        <a:srgbClr val="D9DED9"/>
                      </a:solidFill>
                      <a:prstDash val="solid"/>
                      <a:round/>
                      <a:headEnd type="none" w="med" len="med"/>
                      <a:tailEnd type="none" w="med" len="med"/>
                    </a:lnB>
                  </a:tcPr>
                </a:tc>
              </a:tr>
            </a:tbl>
          </a:graphicData>
        </a:graphic>
      </p:graphicFrame>
      <p:pic>
        <p:nvPicPr>
          <p:cNvPr id="4" name="icone équipe" descr="preencoded.png">    </p:cNvPr>
          <p:cNvPicPr>
            <a:picLocks noChangeAspect="1"/>
          </p:cNvPicPr>
          <p:nvPr/>
        </p:nvPicPr>
        <p:blipFill>
          <a:blip r:embed="rId1"/>
          <a:stretch>
            <a:fillRect/>
          </a:stretch>
        </p:blipFill>
        <p:spPr>
          <a:xfrm>
            <a:off x="8412480" y="1463040"/>
            <a:ext cx="457200" cy="457200"/>
          </a:xfrm>
          <a:prstGeom prst="rect">
            <a:avLst/>
          </a:prstGeom>
        </p:spPr>
      </p:pic>
      <p:sp>
        <p:nvSpPr>
          <p:cNvPr id="5" name="Text 1"/>
          <p:cNvSpPr txBox="1"/>
          <p:nvPr/>
        </p:nvSpPr>
        <p:spPr>
          <a:xfrm>
            <a:off x="9006840" y="1463040"/>
            <a:ext cx="27432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L'équipe</a:t>
            </a:r>
            <a:endParaRPr lang="en-US" sz="2000" dirty="0"/>
          </a:p>
        </p:txBody>
      </p:sp>
      <p:sp>
        <p:nvSpPr>
          <p:cNvPr id="6" name="Text 2"/>
          <p:cNvSpPr txBox="1"/>
          <p:nvPr/>
        </p:nvSpPr>
        <p:spPr>
          <a:xfrm>
            <a:off x="8412480" y="2103120"/>
            <a:ext cx="3291840" cy="731520"/>
          </a:xfrm>
          <a:prstGeom prst="rect">
            <a:avLst/>
          </a:prstGeom>
          <a:noFill/>
          <a:ln/>
        </p:spPr>
        <p:txBody>
          <a:bodyPr wrap="square" lIns="0" tIns="0" rIns="0" bIns="0" rtlCol="0" anchor="t"/>
          <a:lstStyle/>
          <a:p>
            <a:pPr indent="0" marL="0">
              <a:buNone/>
            </a:pPr>
            <a:r>
              <a:rPr lang="en-US" sz="1400" b="1" dirty="0">
                <a:solidFill>
                  <a:srgbClr val="333333"/>
                </a:solidFill>
                <a:latin typeface="Calibri" pitchFamily="34" charset="0"/>
                <a:ea typeface="Calibri" pitchFamily="34" charset="-122"/>
                <a:cs typeface="Calibri" pitchFamily="34" charset="-120"/>
              </a:rPr>
              <a:t>Kheireddine BOUADI</a:t>
            </a:r>
            <a:endParaRPr lang="en-US" sz="1400" dirty="0"/>
          </a:p>
          <a:p>
            <a:pPr indent="0" marL="0">
              <a:buNone/>
            </a:pPr>
            <a:r>
              <a:rPr lang="en-US" sz="1400" dirty="0">
                <a:solidFill>
                  <a:srgbClr val="52514E"/>
                </a:solidFill>
                <a:latin typeface="Calibri" pitchFamily="34" charset="0"/>
                <a:ea typeface="Calibri" pitchFamily="34" charset="-122"/>
                <a:cs typeface="Calibri" pitchFamily="34" charset="-120"/>
              </a:rPr>
              <a:t>Product Owner, data engineer</a:t>
            </a:r>
            <a:endParaRPr lang="en-US" sz="1400" dirty="0"/>
          </a:p>
        </p:txBody>
      </p:sp>
      <p:sp>
        <p:nvSpPr>
          <p:cNvPr id="7" name="Text 3"/>
          <p:cNvSpPr txBox="1"/>
          <p:nvPr/>
        </p:nvSpPr>
        <p:spPr>
          <a:xfrm>
            <a:off x="8412480" y="2880360"/>
            <a:ext cx="3291840" cy="731520"/>
          </a:xfrm>
          <a:prstGeom prst="rect">
            <a:avLst/>
          </a:prstGeom>
          <a:noFill/>
          <a:ln/>
        </p:spPr>
        <p:txBody>
          <a:bodyPr wrap="square" lIns="0" tIns="0" rIns="0" bIns="0" rtlCol="0" anchor="t"/>
          <a:lstStyle/>
          <a:p>
            <a:pPr indent="0" marL="0">
              <a:buNone/>
            </a:pPr>
            <a:r>
              <a:rPr lang="en-US" sz="1400" b="1" dirty="0">
                <a:solidFill>
                  <a:srgbClr val="333333"/>
                </a:solidFill>
                <a:latin typeface="Calibri" pitchFamily="34" charset="0"/>
                <a:ea typeface="Calibri" pitchFamily="34" charset="-122"/>
                <a:cs typeface="Calibri" pitchFamily="34" charset="-120"/>
              </a:rPr>
              <a:t>Maël RAZAFIMBELO</a:t>
            </a:r>
            <a:endParaRPr lang="en-US" sz="1400" dirty="0"/>
          </a:p>
          <a:p>
            <a:pPr indent="0" marL="0">
              <a:buNone/>
            </a:pPr>
            <a:r>
              <a:rPr lang="en-US" sz="1400" dirty="0">
                <a:solidFill>
                  <a:srgbClr val="52514E"/>
                </a:solidFill>
                <a:latin typeface="Calibri" pitchFamily="34" charset="0"/>
                <a:ea typeface="Calibri" pitchFamily="34" charset="-122"/>
                <a:cs typeface="Calibri" pitchFamily="34" charset="-120"/>
              </a:rPr>
              <a:t>Scrum Master, validation</a:t>
            </a:r>
            <a:endParaRPr lang="en-US" sz="1400" dirty="0"/>
          </a:p>
        </p:txBody>
      </p:sp>
      <p:sp>
        <p:nvSpPr>
          <p:cNvPr id="8" name="Text 4"/>
          <p:cNvSpPr txBox="1"/>
          <p:nvPr/>
        </p:nvSpPr>
        <p:spPr>
          <a:xfrm>
            <a:off x="8412480" y="3657600"/>
            <a:ext cx="3291840" cy="731520"/>
          </a:xfrm>
          <a:prstGeom prst="rect">
            <a:avLst/>
          </a:prstGeom>
          <a:noFill/>
          <a:ln/>
        </p:spPr>
        <p:txBody>
          <a:bodyPr wrap="square" lIns="0" tIns="0" rIns="0" bIns="0" rtlCol="0" anchor="t"/>
          <a:lstStyle/>
          <a:p>
            <a:pPr indent="0" marL="0">
              <a:buNone/>
            </a:pPr>
            <a:r>
              <a:rPr lang="en-US" sz="1400" b="1" dirty="0">
                <a:solidFill>
                  <a:srgbClr val="333333"/>
                </a:solidFill>
                <a:latin typeface="Calibri" pitchFamily="34" charset="0"/>
                <a:ea typeface="Calibri" pitchFamily="34" charset="-122"/>
                <a:cs typeface="Calibri" pitchFamily="34" charset="-120"/>
              </a:rPr>
              <a:t>Mohamed BEN AMOR</a:t>
            </a:r>
            <a:endParaRPr lang="en-US" sz="1400" dirty="0"/>
          </a:p>
          <a:p>
            <a:pPr indent="0" marL="0">
              <a:buNone/>
            </a:pPr>
            <a:r>
              <a:rPr lang="en-US" sz="1400" dirty="0">
                <a:solidFill>
                  <a:srgbClr val="52514E"/>
                </a:solidFill>
                <a:latin typeface="Calibri" pitchFamily="34" charset="0"/>
                <a:ea typeface="Calibri" pitchFamily="34" charset="-122"/>
                <a:cs typeface="Calibri" pitchFamily="34" charset="-120"/>
              </a:rPr>
              <a:t>Data engineer, nettoyage</a:t>
            </a:r>
            <a:endParaRPr lang="en-US" sz="1400" dirty="0"/>
          </a:p>
        </p:txBody>
      </p:sp>
      <p:sp>
        <p:nvSpPr>
          <p:cNvPr id="9" name="Text 5"/>
          <p:cNvSpPr txBox="1"/>
          <p:nvPr/>
        </p:nvSpPr>
        <p:spPr>
          <a:xfrm>
            <a:off x="8412480" y="4434840"/>
            <a:ext cx="3291840" cy="731520"/>
          </a:xfrm>
          <a:prstGeom prst="rect">
            <a:avLst/>
          </a:prstGeom>
          <a:noFill/>
          <a:ln/>
        </p:spPr>
        <p:txBody>
          <a:bodyPr wrap="square" lIns="0" tIns="0" rIns="0" bIns="0" rtlCol="0" anchor="t"/>
          <a:lstStyle/>
          <a:p>
            <a:pPr indent="0" marL="0">
              <a:buNone/>
            </a:pPr>
            <a:r>
              <a:rPr lang="en-US" sz="1400" b="1" dirty="0">
                <a:solidFill>
                  <a:srgbClr val="333333"/>
                </a:solidFill>
                <a:latin typeface="Calibri" pitchFamily="34" charset="0"/>
                <a:ea typeface="Calibri" pitchFamily="34" charset="-122"/>
                <a:cs typeface="Calibri" pitchFamily="34" charset="-120"/>
              </a:rPr>
              <a:t>Ael Boece NGODA LONTSI</a:t>
            </a:r>
            <a:endParaRPr lang="en-US" sz="1400" dirty="0"/>
          </a:p>
          <a:p>
            <a:pPr indent="0" marL="0">
              <a:buNone/>
            </a:pPr>
            <a:r>
              <a:rPr lang="en-US" sz="1400" dirty="0">
                <a:solidFill>
                  <a:srgbClr val="52514E"/>
                </a:solidFill>
                <a:latin typeface="Calibri" pitchFamily="34" charset="0"/>
                <a:ea typeface="Calibri" pitchFamily="34" charset="-122"/>
                <a:cs typeface="Calibri" pitchFamily="34" charset="-120"/>
              </a:rPr>
              <a:t>Data scientist, modèles</a:t>
            </a:r>
            <a:endParaRPr lang="en-US" sz="1400" dirty="0"/>
          </a:p>
        </p:txBody>
      </p:sp>
      <p:sp>
        <p:nvSpPr>
          <p:cNvPr id="10" name="Text 6"/>
          <p:cNvSpPr txBox="1"/>
          <p:nvPr/>
        </p:nvSpPr>
        <p:spPr>
          <a:xfrm>
            <a:off x="8412480" y="5212080"/>
            <a:ext cx="3291840" cy="731520"/>
          </a:xfrm>
          <a:prstGeom prst="rect">
            <a:avLst/>
          </a:prstGeom>
          <a:noFill/>
          <a:ln/>
        </p:spPr>
        <p:txBody>
          <a:bodyPr wrap="square" lIns="0" tIns="0" rIns="0" bIns="0" rtlCol="0" anchor="t"/>
          <a:lstStyle/>
          <a:p>
            <a:pPr indent="0" marL="0">
              <a:buNone/>
            </a:pPr>
            <a:r>
              <a:rPr lang="en-US" sz="1400" b="1" dirty="0">
                <a:solidFill>
                  <a:srgbClr val="333333"/>
                </a:solidFill>
                <a:latin typeface="Calibri" pitchFamily="34" charset="0"/>
                <a:ea typeface="Calibri" pitchFamily="34" charset="-122"/>
                <a:cs typeface="Calibri" pitchFamily="34" charset="-120"/>
              </a:rPr>
              <a:t>Abdallah BENSMAIL</a:t>
            </a:r>
            <a:endParaRPr lang="en-US" sz="1400" dirty="0"/>
          </a:p>
          <a:p>
            <a:pPr indent="0" marL="0">
              <a:buNone/>
            </a:pPr>
            <a:r>
              <a:rPr lang="en-US" sz="1400" dirty="0">
                <a:solidFill>
                  <a:srgbClr val="52514E"/>
                </a:solidFill>
                <a:latin typeface="Calibri" pitchFamily="34" charset="0"/>
                <a:ea typeface="Calibri" pitchFamily="34" charset="-122"/>
                <a:cs typeface="Calibri" pitchFamily="34" charset="-120"/>
              </a:rPr>
              <a:t>Data analyst, interface</a:t>
            </a:r>
            <a:endParaRPr lang="en-US" sz="1400" dirty="0"/>
          </a:p>
        </p:txBody>
      </p:sp>
      <p:sp>
        <p:nvSpPr>
          <p:cNvPr id="11" name="Text 7"/>
          <p:cNvSpPr txBox="1"/>
          <p:nvPr/>
        </p:nvSpPr>
        <p:spPr>
          <a:xfrm>
            <a:off x="548640" y="5349240"/>
            <a:ext cx="7498080" cy="640080"/>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Definition of Done : code testé, étape journalisée, règle de validation verte, documentation à jour.</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686800" cy="1737360"/>
          </a:xfrm>
          <a:prstGeom prst="rect">
            <a:avLst/>
          </a:prstGeom>
          <a:noFill/>
          <a:ln/>
        </p:spPr>
        <p:txBody>
          <a:bodyPr wrap="square" lIns="0" tIns="0" rIns="0" bIns="0" rtlCol="0" anchor="b"/>
          <a:lstStyle/>
          <a:p>
            <a:pPr algn="l" indent="0" marL="0">
              <a:buNone/>
            </a:pPr>
            <a:r>
              <a:rPr lang="en-US" sz="4400" b="1" dirty="0">
                <a:solidFill>
                  <a:schemeClr val="bg1"/>
                </a:solidFill>
              </a:rPr>
              <a:t>Limites et prochaines étapes</a:t>
            </a:r>
            <a:endParaRPr lang="en-US" sz="4400" dirty="0"/>
          </a:p>
        </p:txBody>
      </p:sp>
      <p:sp>
        <p:nvSpPr>
          <p:cNvPr id="3" name="Text 0"/>
          <p:cNvSpPr/>
          <p:nvPr>
            <p:ph idx="101" type="body" hasCustomPrompt="1"/>
          </p:nvPr>
        </p:nvSpPr>
        <p:spPr>
          <a:xfrm>
            <a:off x="548640" y="3749040"/>
            <a:ext cx="1005840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C9DCD2"/>
                </a:solidFill>
              </a:rPr>
              <a:t>Brancher les vraies extractions SAP et scanners : le pipeline ne dépend que du format</a:t>
            </a:r>
            <a:endParaRPr lang="en-US" sz="1800" dirty="0"/>
          </a:p>
          <a:p>
            <a:pPr marL="342900" indent="-342900">
              <a:spcAft>
                <a:spcPts val="800"/>
              </a:spcAft>
              <a:buSzPct val="100000"/>
              <a:buChar char="•"/>
            </a:pPr>
            <a:r>
              <a:rPr lang="en-US" sz="1800" dirty="0">
                <a:solidFill>
                  <a:srgbClr val="C9DCD2"/>
                </a:solidFill>
              </a:rPr>
              <a:t>Ajouter les émissions des plateformes et le trajet du client vers le point relais</a:t>
            </a:r>
            <a:endParaRPr lang="en-US" sz="1800" dirty="0"/>
          </a:p>
          <a:p>
            <a:pPr marL="342900" indent="-342900">
              <a:spcAft>
                <a:spcPts val="800"/>
              </a:spcAft>
              <a:buSzPct val="100000"/>
              <a:buChar char="•"/>
            </a:pPr>
            <a:r>
              <a:rPr lang="en-US" sz="1800" dirty="0">
                <a:solidFill>
                  <a:srgbClr val="C9DCD2"/>
                </a:solidFill>
              </a:rPr>
              <a:t>Remplacer le coefficient de tournée par les vraies tournées (GPS des véhicules)</a:t>
            </a:r>
            <a:endParaRPr lang="en-US" sz="1800" dirty="0"/>
          </a:p>
          <a:p>
            <a:pPr marL="342900" indent="-342900">
              <a:spcAft>
                <a:spcPts val="800"/>
              </a:spcAft>
              <a:buSzPct val="100000"/>
              <a:buChar char="•"/>
            </a:pPr>
            <a:r>
              <a:rPr lang="en-US" sz="1800" dirty="0">
                <a:solidFill>
                  <a:srgbClr val="C9DCD2"/>
                </a:solidFill>
              </a:rPr>
              <a:t>Exposer le calculateur en API pour l'afficher au moment de la commande</a:t>
            </a:r>
            <a:endParaRPr lang="en-US" sz="1800" dirty="0"/>
          </a:p>
        </p:txBody>
      </p:sp>
    </p:spTree>
  </p:cSld>
  <p:clrMapOvr>
    <a:masterClrMapping/>
  </p:clrMapOvr>
</p:sld>
</file>

<file path=ppt/theme/theme1.xml><?xml version="1.0" encoding="utf-8"?>
<a:theme xmlns:a="http://schemas.openxmlformats.org/drawingml/2006/main" name="FastColis Carbone">
  <a:themeElements>
    <a:clrScheme name="FastColis Carbone">
      <a:dk1>
        <a:srgbClr val="0B0B0B"/>
      </a:dk1>
      <a:lt1>
        <a:srgbClr val="FFFFFF"/>
      </a:lt1>
      <a:dk2>
        <a:srgbClr val="0F3D2E"/>
      </a:dk2>
      <a:lt2>
        <a:srgbClr val="EEF3EE"/>
      </a:lt2>
      <a:accent1>
        <a:srgbClr val="0F6B4F"/>
      </a:accent1>
      <a:accent2>
        <a:srgbClr val="EB6834"/>
      </a:accent2>
      <a:accent3>
        <a:srgbClr val="2A78D6"/>
      </a:accent3>
      <a:accent4>
        <a:srgbClr val="1BAF7A"/>
      </a:accent4>
      <a:accent5>
        <a:srgbClr val="EDA100"/>
      </a:accent5>
      <a:accent6>
        <a:srgbClr val="6250D6"/>
      </a:accent6>
      <a:hlink>
        <a:srgbClr val="0F6B4F"/>
      </a:hlink>
      <a:folHlink>
        <a:srgbClr val="52514E"/>
      </a:folHlink>
    </a:clrScheme>
    <a:fontScheme name="FastColis Carbo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Calculateur CO2 logistique intelligent</dc:title>
  <dc:subject>PptxGenJS Presentation</dc:subject>
  <dc:creator>Équipe FastColis, PGE3 aivancity</dc:creator>
  <cp:lastModifiedBy>Équipe FastColis, PGE3 aivancity</cp:lastModifiedBy>
  <cp:revision>1</cp:revision>
  <dcterms:created xsi:type="dcterms:W3CDTF">2026-10-24T13:09:52Z</dcterms:created>
  <dcterms:modified xsi:type="dcterms:W3CDTF">2026-10-24T13:09:52Z</dcterms:modified>
</cp:coreProperties>
</file>